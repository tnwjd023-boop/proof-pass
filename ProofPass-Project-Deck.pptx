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에이전트에게 지급 권한을 줬다가 회수했습니다. 이미 발급된 미사용 승인도 막을 수 있을까요? 프루프패스는 비공개 정책 승인과, 실행 시점의 권한 재검사를 연결합니다. 지금 보는 화면은 2026년 9월 21일에 완료한 테스트넷 실행 기록입니다.
Sources: https://github.com/tnwjd023-boop/Proof-Pass/blob/main/evidence/preprod/live-flow.json
https://github.com/tnwjd023-boop/Proof-Pass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비공개 정책입니다. 원본 신원정보와 전체 위임 한도는 목적지 체인에 전달하지 않습니다. 공개되는 요청은 에이전트, 수신자, 그리고 지급 금액입니다. 오픈 디아이디 에스디케이로 확인한 신원 근거와 자격, 지갑 바인딩, 위임 조건을 미드나이트가 하나의 정책으로 검증합니다.
영지식 증명이 필요한 이유는 숨긴 값에 대한 비교입니다. 요청한 영점 영오 솔이 비공개 거래당 한도 이내임을 증명합니다. 설명용 한도는 영점 일 솔입니다. 영점 일오 솔 요청은 승인 생성 단계에서 거절됐고 체인에 제출되지 않았습니다. 한도 원문 대신 위임 커밋먼트가 목적지에 전달됩니다.
Sources: https://github.com/tnwjd023-boop/Proof-Pass/blob/main/evidence/preprod/live-flow.json
https://github.com/tnwjd023-boop/Proof-Pass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OpenDID SDK로 합성 테스트 신원을 검증합니다. XRPL의 공개 자격 상태를 trusted observer가 전달하고, Midnight는 비공개 정책과 서명 근거를 검증합니다. trusted relay는 요청 commitment를 정확한 지급 요청에 매핑합니다. Solana는 로컬 상태를 다시 확인하고 지급합니다. 목적지에서 Midnight proof나 XRPL 합의를 직접 검증하는 구조는 아닙니다.
Sources: https://github.com/tnwjd023-boop/Proof-Pass/blob/main/evidence/preprod/live-flow.json
https://github.com/tnwjd023-boop/Proof-Pass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실제 지급입니다. 신뢰하는 릴레이가 정확한 요청에 묶인 승인을 솔라나에 등록합니다. 프로그램은 요청과 현재 상태, 만료, 소비 여부를 다시 확인합니다. 이 기록에서는 오천만 램포트, 영점 영오 테스트 솔이 볼트에서 수신자에게 이동했고 해당 승인은 소비됐습니다. 실제 거래 링크도 확인할 수 있습니다.
Sources: https://github.com/tnwjd023-boop/Proof-Pass/blob/main/evidence/preprod/live-flow.json
https://github.com/tnwjd023-boop/Proof-Pass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중요한 장면입니다. 앞의 지급과 별도로 미사용 승인을 발급했습니다. 그 뒤 엑스알피엘 자격을 삭제하고, 관측자가 솔라나 상태를 갱신했습니다. 기존 승인을 실행하자 소스 오류 육천삼으로 거절됐습니다. 승인 만료까지 약 칠 초가 남아 있었으므로 만료 때문이 아닙니다. 자격 삭제가 반영되어 지급이 차단된 것입니다. 볼트와 수신자의 잔액 변화는 영입니다.
Sources: https://github.com/tnwjd023-boop/Proof-Pass/blob/main/evidence/preprod/live-flow.json
https://github.com/tnwjd023-boop/Proof-Pass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결과를 비교하면 명확합니다. 정상 요청은 지급됩니다. 같은 승인 재사용은 거절됩니다. 위임을 취소한 뒤의 기존 승인도, 자격 삭제가 반영된 뒤의 기존 승인도 거절됩니다. 성공 응답만이 아니라 실패 거래와 잔액으로 실행 제어를 확인합니다.
실패 거래의 수수료까지 0이라는 뜻은 아닙니다. 보호된 vault와 수신자 사이 지급이 0입니다.
Sources: https://github.com/tnwjd023-boop/Proof-Pass/blob/main/evidence/preprod/live-flow.json
https://github.com/tnwjd023-boop/Proof-Pass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신뢰 경계도 분명합니다. 솔라나는 미드나이트 증명을 직접 검증하지 않습니다. 어댑터, 관측자, 릴레이와 시각 제공자를 신뢰하며 취소 반영에는 지연이 있습니다. 통제 범위는 해당 볼트의 지급 경로입니다. 기업에서 담당자와 에이전트로 이어지는 권한은 다음 실험입니다. 프루프패스는 허용됐음을 증명하고, 실행할 때도 여전히 허용되는지 확인합니다.
Sources: https://github.com/tnwjd023-boop/Proof-Pass/blob/main/evidence/preprod/live-flow.json
https://github.com/tnwjd023-boop/Proof-Pass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explorer.solana.com/tx/4SnYCGG7QwaR4sdCcypVoytk3agMHbY7dteMSoNQ3P67iMxnZ2xrmRMtf24xbruhZLd2ZXDAZL7TvGV9A61oVpia?cluster=devnet" TargetMode="Externa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explorer.solana.com/tx/4DQsSZei8gPRWHuD2GSUWo6ijgY1kCjCtPTKWkT9Gufib9CUEuxEietPr9tamxCECxKhpNLcxsx9qm6dG29jf8k4?cluster=devnet" TargetMode="Externa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tnwjd023-boop/Proof-Pass/blob/main/evidence/preprod/live-flow.json"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F27"/>
        </a:solidFill>
      </p:bgPr>
    </p:bg>
    <p:spTree>
      <p:nvGrpSpPr>
        <p:cNvPr id="1" name=""/>
        <p:cNvGrpSpPr/>
        <p:nvPr/>
      </p:nvGrpSpPr>
      <p:grpSpPr>
        <a:xfrm>
          <a:off x="0" y="0"/>
          <a:ext cx="0" cy="0"/>
          <a:chOff x="0" y="0"/>
          <a:chExt cx="0" cy="0"/>
        </a:xfrm>
      </p:grpSpPr>
      <p:sp>
        <p:nvSpPr>
          <p:cNvPr id="2" name="Shape 0"/>
          <p:cNvSpPr/>
          <p:nvPr/>
        </p:nvSpPr>
        <p:spPr>
          <a:xfrm>
            <a:off x="533400" y="333375"/>
            <a:ext cx="266700" cy="38100"/>
          </a:xfrm>
          <a:prstGeom prst="rect">
            <a:avLst/>
          </a:prstGeom>
          <a:solidFill>
            <a:srgbClr val="BEE6C7"/>
          </a:solidFill>
          <a:ln w="10160">
            <a:solidFill>
              <a:srgbClr val="BEE6C7"/>
            </a:solidFill>
            <a:prstDash val="solid"/>
          </a:ln>
        </p:spPr>
      </p:sp>
      <p:sp>
        <p:nvSpPr>
          <p:cNvPr id="3" name="Text 1"/>
          <p:cNvSpPr/>
          <p:nvPr/>
        </p:nvSpPr>
        <p:spPr>
          <a:xfrm>
            <a:off x="952500" y="238125"/>
            <a:ext cx="9334500" cy="285750"/>
          </a:xfrm>
          <a:prstGeom prst="rect">
            <a:avLst/>
          </a:prstGeom>
          <a:noFill/>
          <a:ln/>
        </p:spPr>
        <p:txBody>
          <a:bodyPr wrap="square" lIns="0" tIns="0" rIns="0" bIns="0" rtlCol="0" anchor="t"/>
          <a:lstStyle/>
          <a:p>
            <a:pPr indent="0" marL="0">
              <a:buNone/>
            </a:pPr>
            <a:r>
              <a:rPr lang="en-US" sz="975" b="1" dirty="0">
                <a:solidFill>
                  <a:srgbClr val="BEE6C7"/>
                </a:solidFill>
                <a:latin typeface="Noto Sans KR" pitchFamily="34" charset="0"/>
                <a:ea typeface="Noto Sans KR" pitchFamily="34" charset="-122"/>
                <a:cs typeface="Noto Sans KR" pitchFamily="34" charset="-120"/>
              </a:rPr>
              <a:t>PROOFPASS / PROJECT DECK</a:t>
            </a:r>
            <a:endParaRPr lang="en-US" sz="975" dirty="0"/>
          </a:p>
        </p:txBody>
      </p:sp>
      <p:sp>
        <p:nvSpPr>
          <p:cNvPr id="4" name="Text 2"/>
          <p:cNvSpPr/>
          <p:nvPr/>
        </p:nvSpPr>
        <p:spPr>
          <a:xfrm>
            <a:off x="10477500" y="219075"/>
            <a:ext cx="1238250" cy="333375"/>
          </a:xfrm>
          <a:prstGeom prst="rect">
            <a:avLst/>
          </a:prstGeom>
          <a:noFill/>
          <a:ln/>
        </p:spPr>
        <p:txBody>
          <a:bodyPr wrap="square" lIns="0" tIns="0" rIns="0" bIns="0" rtlCol="0" anchor="t"/>
          <a:lstStyle/>
          <a:p>
            <a:pPr indent="0" marL="0">
              <a:buNone/>
            </a:pPr>
            <a:r>
              <a:rPr lang="en-US" sz="1350" b="1" dirty="0">
                <a:solidFill>
                  <a:srgbClr val="FFFFFF"/>
                </a:solidFill>
                <a:latin typeface="Noto Sans KR" pitchFamily="34" charset="0"/>
                <a:ea typeface="Noto Sans KR" pitchFamily="34" charset="-122"/>
                <a:cs typeface="Noto Sans KR" pitchFamily="34" charset="-120"/>
              </a:rPr>
              <a:t>ProofPass</a:t>
            </a:r>
            <a:endParaRPr lang="en-US" sz="1350" dirty="0"/>
          </a:p>
        </p:txBody>
      </p:sp>
      <p:sp>
        <p:nvSpPr>
          <p:cNvPr id="5" name="Text 3"/>
          <p:cNvSpPr/>
          <p:nvPr/>
        </p:nvSpPr>
        <p:spPr>
          <a:xfrm>
            <a:off x="533400" y="866775"/>
            <a:ext cx="11144250" cy="1524000"/>
          </a:xfrm>
          <a:prstGeom prst="rect">
            <a:avLst/>
          </a:prstGeom>
          <a:noFill/>
          <a:ln/>
        </p:spPr>
        <p:txBody>
          <a:bodyPr wrap="square" lIns="0" tIns="0" rIns="0" bIns="0" rtlCol="0" anchor="t"/>
          <a:lstStyle/>
          <a:p>
            <a:pPr indent="0" marL="0">
              <a:buNone/>
            </a:pPr>
            <a:r>
              <a:rPr lang="en-US" sz="4125" b="1" dirty="0">
                <a:solidFill>
                  <a:srgbClr val="FFFFFF"/>
                </a:solidFill>
                <a:latin typeface="Noto Sans KR" pitchFamily="34" charset="0"/>
                <a:ea typeface="Noto Sans KR" pitchFamily="34" charset="-122"/>
                <a:cs typeface="Noto Sans KR" pitchFamily="34" charset="-120"/>
              </a:rPr>
              <a:t>Prove permission privately.</a:t>
            </a:r>
            <a:endParaRPr lang="en-US" sz="4125" dirty="0"/>
          </a:p>
          <a:p>
            <a:pPr indent="0" marL="0">
              <a:buNone/>
            </a:pPr>
            <a:r>
              <a:rPr lang="en-US" sz="4125" b="1" dirty="0">
                <a:solidFill>
                  <a:srgbClr val="FFFFFF"/>
                </a:solidFill>
                <a:latin typeface="Noto Sans KR" pitchFamily="34" charset="0"/>
                <a:ea typeface="Noto Sans KR" pitchFamily="34" charset="-122"/>
                <a:cs typeface="Noto Sans KR" pitchFamily="34" charset="-120"/>
              </a:rPr>
              <a:t>Enforce it at execution.</a:t>
            </a:r>
            <a:endParaRPr lang="en-US" sz="4125" dirty="0"/>
          </a:p>
        </p:txBody>
      </p:sp>
      <p:sp>
        <p:nvSpPr>
          <p:cNvPr id="6" name="Text 4"/>
          <p:cNvSpPr/>
          <p:nvPr/>
        </p:nvSpPr>
        <p:spPr>
          <a:xfrm>
            <a:off x="533400" y="2428875"/>
            <a:ext cx="11144250" cy="476250"/>
          </a:xfrm>
          <a:prstGeom prst="rect">
            <a:avLst/>
          </a:prstGeom>
          <a:noFill/>
          <a:ln/>
        </p:spPr>
        <p:txBody>
          <a:bodyPr wrap="square" lIns="0" tIns="0" rIns="0" bIns="0" rtlCol="0" anchor="t"/>
          <a:lstStyle/>
          <a:p>
            <a:pPr indent="0" marL="0">
              <a:buNone/>
            </a:pPr>
            <a:r>
              <a:rPr lang="en-US" sz="1650" dirty="0">
                <a:solidFill>
                  <a:srgbClr val="B9D5C8"/>
                </a:solidFill>
                <a:latin typeface="Noto Sans KR" pitchFamily="34" charset="0"/>
                <a:ea typeface="Noto Sans KR" pitchFamily="34" charset="-122"/>
                <a:cs typeface="Noto Sans KR" pitchFamily="34" charset="-120"/>
              </a:rPr>
              <a:t>비공개 정책 승인 + 실행 시점 권한 재검사</a:t>
            </a:r>
            <a:endParaRPr lang="en-US" sz="1650" dirty="0"/>
          </a:p>
        </p:txBody>
      </p:sp>
      <p:sp>
        <p:nvSpPr>
          <p:cNvPr id="7" name="Shape 5"/>
          <p:cNvSpPr/>
          <p:nvPr/>
        </p:nvSpPr>
        <p:spPr>
          <a:xfrm>
            <a:off x="533400" y="6334125"/>
            <a:ext cx="11125200" cy="9525"/>
          </a:xfrm>
          <a:prstGeom prst="rect">
            <a:avLst/>
          </a:prstGeom>
          <a:solidFill>
            <a:srgbClr val="345449"/>
          </a:solidFill>
          <a:ln w="10160">
            <a:solidFill>
              <a:srgbClr val="345449"/>
            </a:solidFill>
            <a:prstDash val="solid"/>
          </a:ln>
        </p:spPr>
      </p:sp>
      <p:sp>
        <p:nvSpPr>
          <p:cNvPr id="8" name="Text 6"/>
          <p:cNvSpPr/>
          <p:nvPr/>
        </p:nvSpPr>
        <p:spPr>
          <a:xfrm>
            <a:off x="533400" y="6496050"/>
            <a:ext cx="10096500" cy="219075"/>
          </a:xfrm>
          <a:prstGeom prst="rect">
            <a:avLst/>
          </a:prstGeom>
          <a:noFill/>
          <a:ln/>
        </p:spPr>
        <p:txBody>
          <a:bodyPr wrap="square" lIns="0" tIns="0" rIns="0" bIns="0" rtlCol="0" anchor="t"/>
          <a:lstStyle/>
          <a:p>
            <a:pPr indent="0" marL="0">
              <a:buNone/>
            </a:pPr>
            <a:r>
              <a:rPr lang="en-US" sz="900" dirty="0">
                <a:solidFill>
                  <a:srgbClr val="B9D5C8"/>
                </a:solidFill>
                <a:latin typeface="Noto Sans KR" pitchFamily="34" charset="0"/>
                <a:ea typeface="Noto Sans KR" pitchFamily="34" charset="-122"/>
                <a:cs typeface="Noto Sans KR" pitchFamily="34" charset="-120"/>
              </a:rPr>
              <a:t>Stored testnet run 2026-09-21  ·  Hackathon reference implementation</a:t>
            </a:r>
            <a:endParaRPr lang="en-US" sz="900" dirty="0"/>
          </a:p>
        </p:txBody>
      </p:sp>
      <p:sp>
        <p:nvSpPr>
          <p:cNvPr id="9" name="Text 7"/>
          <p:cNvSpPr/>
          <p:nvPr/>
        </p:nvSpPr>
        <p:spPr>
          <a:xfrm>
            <a:off x="10858500" y="6496050"/>
            <a:ext cx="857250" cy="219075"/>
          </a:xfrm>
          <a:prstGeom prst="rect">
            <a:avLst/>
          </a:prstGeom>
          <a:noFill/>
          <a:ln/>
        </p:spPr>
        <p:txBody>
          <a:bodyPr wrap="square" lIns="0" tIns="0" rIns="0" bIns="0" rtlCol="0" anchor="t"/>
          <a:lstStyle/>
          <a:p>
            <a:pPr indent="0" marL="0">
              <a:buNone/>
            </a:pPr>
            <a:r>
              <a:rPr lang="en-US" sz="900" b="1" dirty="0">
                <a:solidFill>
                  <a:srgbClr val="B9D5C8"/>
                </a:solidFill>
                <a:latin typeface="Noto Sans KR" pitchFamily="34" charset="0"/>
                <a:ea typeface="Noto Sans KR" pitchFamily="34" charset="-122"/>
                <a:cs typeface="Noto Sans KR" pitchFamily="34" charset="-120"/>
              </a:rPr>
              <a:t>01 / 07</a:t>
            </a:r>
            <a:endParaRPr lang="en-US" sz="900" dirty="0"/>
          </a:p>
        </p:txBody>
      </p:sp>
      <p:sp>
        <p:nvSpPr>
          <p:cNvPr id="10" name="Text 8"/>
          <p:cNvSpPr/>
          <p:nvPr/>
        </p:nvSpPr>
        <p:spPr>
          <a:xfrm>
            <a:off x="533400" y="3057525"/>
            <a:ext cx="11125200" cy="476250"/>
          </a:xfrm>
          <a:prstGeom prst="rect">
            <a:avLst/>
          </a:prstGeom>
          <a:noFill/>
          <a:ln/>
        </p:spPr>
        <p:txBody>
          <a:bodyPr wrap="square" lIns="0" tIns="0" rIns="0" bIns="0" rtlCol="0" anchor="t"/>
          <a:lstStyle/>
          <a:p>
            <a:pPr indent="0" marL="0">
              <a:buNone/>
            </a:pPr>
            <a:r>
              <a:rPr lang="en-US" sz="1875" dirty="0">
                <a:solidFill>
                  <a:srgbClr val="FFFFFF"/>
                </a:solidFill>
                <a:latin typeface="Noto Sans KR" pitchFamily="34" charset="0"/>
                <a:ea typeface="Noto Sans KR" pitchFamily="34" charset="-122"/>
                <a:cs typeface="Noto Sans KR" pitchFamily="34" charset="-120"/>
              </a:rPr>
              <a:t>권한은 회수됐는데, 이미 발급한 승인은 계속 돈을 쓸 수 있을까요?</a:t>
            </a:r>
            <a:endParaRPr lang="en-US" sz="1875" dirty="0"/>
          </a:p>
        </p:txBody>
      </p:sp>
      <p:sp>
        <p:nvSpPr>
          <p:cNvPr id="11" name="Shape 9"/>
          <p:cNvSpPr/>
          <p:nvPr/>
        </p:nvSpPr>
        <p:spPr>
          <a:xfrm>
            <a:off x="533400" y="3724275"/>
            <a:ext cx="5295900" cy="1952625"/>
          </a:xfrm>
          <a:prstGeom prst="rect">
            <a:avLst/>
          </a:prstGeom>
          <a:solidFill>
            <a:srgbClr val="214E3E"/>
          </a:solidFill>
          <a:ln w="10160">
            <a:solidFill>
              <a:srgbClr val="214E3E"/>
            </a:solidFill>
            <a:prstDash val="solid"/>
          </a:ln>
        </p:spPr>
      </p:sp>
      <p:sp>
        <p:nvSpPr>
          <p:cNvPr id="12" name="Shape 10"/>
          <p:cNvSpPr/>
          <p:nvPr/>
        </p:nvSpPr>
        <p:spPr>
          <a:xfrm>
            <a:off x="6057900" y="3724275"/>
            <a:ext cx="5600700" cy="1952625"/>
          </a:xfrm>
          <a:prstGeom prst="rect">
            <a:avLst/>
          </a:prstGeom>
          <a:solidFill>
            <a:srgbClr val="F4EAE2"/>
          </a:solidFill>
          <a:ln w="10160">
            <a:solidFill>
              <a:srgbClr val="F4EAE2"/>
            </a:solidFill>
            <a:prstDash val="solid"/>
          </a:ln>
        </p:spPr>
      </p:sp>
      <p:sp>
        <p:nvSpPr>
          <p:cNvPr id="13" name="Text 11"/>
          <p:cNvSpPr/>
          <p:nvPr/>
        </p:nvSpPr>
        <p:spPr>
          <a:xfrm>
            <a:off x="762000" y="3914775"/>
            <a:ext cx="4857750" cy="266700"/>
          </a:xfrm>
          <a:prstGeom prst="rect">
            <a:avLst/>
          </a:prstGeom>
          <a:noFill/>
          <a:ln/>
        </p:spPr>
        <p:txBody>
          <a:bodyPr wrap="square" lIns="0" tIns="0" rIns="0" bIns="0" rtlCol="0" anchor="t"/>
          <a:lstStyle/>
          <a:p>
            <a:pPr indent="0" marL="0">
              <a:buNone/>
            </a:pPr>
            <a:r>
              <a:rPr lang="en-US" sz="1050" b="1" dirty="0">
                <a:solidFill>
                  <a:srgbClr val="B9D5C8"/>
                </a:solidFill>
                <a:latin typeface="Noto Sans KR" pitchFamily="34" charset="0"/>
                <a:ea typeface="Noto Sans KR" pitchFamily="34" charset="-122"/>
                <a:cs typeface="Noto Sans KR" pitchFamily="34" charset="-120"/>
              </a:rPr>
              <a:t>01  /  VALID REQUEST</a:t>
            </a:r>
            <a:endParaRPr lang="en-US" sz="1050" dirty="0"/>
          </a:p>
        </p:txBody>
      </p:sp>
      <p:sp>
        <p:nvSpPr>
          <p:cNvPr id="14" name="Text 12"/>
          <p:cNvSpPr/>
          <p:nvPr/>
        </p:nvSpPr>
        <p:spPr>
          <a:xfrm>
            <a:off x="762000" y="4276725"/>
            <a:ext cx="4857750" cy="714375"/>
          </a:xfrm>
          <a:prstGeom prst="rect">
            <a:avLst/>
          </a:prstGeom>
          <a:noFill/>
          <a:ln/>
        </p:spPr>
        <p:txBody>
          <a:bodyPr wrap="square" lIns="0" tIns="0" rIns="0" bIns="0" rtlCol="0" anchor="t"/>
          <a:lstStyle/>
          <a:p>
            <a:pPr indent="0" marL="0">
              <a:buNone/>
            </a:pPr>
            <a:r>
              <a:rPr lang="en-US" sz="4050" b="1" dirty="0">
                <a:solidFill>
                  <a:srgbClr val="FFFFFF"/>
                </a:solidFill>
                <a:latin typeface="Noto Sans KR" pitchFamily="34" charset="0"/>
                <a:ea typeface="Noto Sans KR" pitchFamily="34" charset="-122"/>
                <a:cs typeface="Noto Sans KR" pitchFamily="34" charset="-120"/>
              </a:rPr>
              <a:t>0.05 SOL</a:t>
            </a:r>
            <a:endParaRPr lang="en-US" sz="4050" dirty="0"/>
          </a:p>
        </p:txBody>
      </p:sp>
      <p:sp>
        <p:nvSpPr>
          <p:cNvPr id="15" name="Text 13"/>
          <p:cNvSpPr/>
          <p:nvPr/>
        </p:nvSpPr>
        <p:spPr>
          <a:xfrm>
            <a:off x="762000" y="5162550"/>
            <a:ext cx="4857750" cy="257175"/>
          </a:xfrm>
          <a:prstGeom prst="rect">
            <a:avLst/>
          </a:prstGeom>
          <a:noFill/>
          <a:ln/>
        </p:spPr>
        <p:txBody>
          <a:bodyPr wrap="square" lIns="0" tIns="0" rIns="0" bIns="0" rtlCol="0" anchor="t"/>
          <a:lstStyle/>
          <a:p>
            <a:pPr indent="0" marL="0">
              <a:buNone/>
            </a:pPr>
            <a:r>
              <a:rPr lang="en-US" sz="1350" dirty="0">
                <a:solidFill>
                  <a:srgbClr val="D3E4DB"/>
                </a:solidFill>
                <a:latin typeface="Noto Sans KR" pitchFamily="34" charset="0"/>
                <a:ea typeface="Noto Sans KR" pitchFamily="34" charset="-122"/>
                <a:cs typeface="Noto Sans KR" pitchFamily="34" charset="-120"/>
              </a:rPr>
              <a:t>50,000,000 lamports · Solana Devnet</a:t>
            </a:r>
            <a:endParaRPr lang="en-US" sz="1350" dirty="0"/>
          </a:p>
        </p:txBody>
      </p:sp>
      <p:sp>
        <p:nvSpPr>
          <p:cNvPr id="16" name="Text 14"/>
          <p:cNvSpPr/>
          <p:nvPr/>
        </p:nvSpPr>
        <p:spPr>
          <a:xfrm>
            <a:off x="6286500" y="3914775"/>
            <a:ext cx="5095875" cy="266700"/>
          </a:xfrm>
          <a:prstGeom prst="rect">
            <a:avLst/>
          </a:prstGeom>
          <a:noFill/>
          <a:ln/>
        </p:spPr>
        <p:txBody>
          <a:bodyPr wrap="square" lIns="0" tIns="0" rIns="0" bIns="0" rtlCol="0" anchor="t"/>
          <a:lstStyle/>
          <a:p>
            <a:pPr indent="0" marL="0">
              <a:buNone/>
            </a:pPr>
            <a:r>
              <a:rPr lang="en-US" sz="1050" b="1" dirty="0">
                <a:solidFill>
                  <a:srgbClr val="A1432C"/>
                </a:solidFill>
                <a:latin typeface="Noto Sans KR" pitchFamily="34" charset="0"/>
                <a:ea typeface="Noto Sans KR" pitchFamily="34" charset="-122"/>
                <a:cs typeface="Noto Sans KR" pitchFamily="34" charset="-120"/>
              </a:rPr>
              <a:t>02  /  AUTHORITY REVOKED</a:t>
            </a:r>
            <a:endParaRPr lang="en-US" sz="1050" dirty="0"/>
          </a:p>
        </p:txBody>
      </p:sp>
      <p:sp>
        <p:nvSpPr>
          <p:cNvPr id="17" name="Text 15"/>
          <p:cNvSpPr/>
          <p:nvPr/>
        </p:nvSpPr>
        <p:spPr>
          <a:xfrm>
            <a:off x="6286500" y="4276725"/>
            <a:ext cx="4953000" cy="714375"/>
          </a:xfrm>
          <a:prstGeom prst="rect">
            <a:avLst/>
          </a:prstGeom>
          <a:noFill/>
          <a:ln/>
        </p:spPr>
        <p:txBody>
          <a:bodyPr wrap="square" lIns="0" tIns="0" rIns="0" bIns="0" rtlCol="0" anchor="t"/>
          <a:lstStyle/>
          <a:p>
            <a:pPr indent="0" marL="0">
              <a:buNone/>
            </a:pPr>
            <a:r>
              <a:rPr lang="en-US" sz="4050" b="1" dirty="0">
                <a:solidFill>
                  <a:srgbClr val="A1432C"/>
                </a:solidFill>
                <a:latin typeface="Noto Sans KR" pitchFamily="34" charset="0"/>
                <a:ea typeface="Noto Sans KR" pitchFamily="34" charset="-122"/>
                <a:cs typeface="Noto Sans KR" pitchFamily="34" charset="-120"/>
              </a:rPr>
              <a:t>REJECTED</a:t>
            </a:r>
            <a:endParaRPr lang="en-US" sz="4050" dirty="0"/>
          </a:p>
        </p:txBody>
      </p:sp>
      <p:sp>
        <p:nvSpPr>
          <p:cNvPr id="18" name="Text 16"/>
          <p:cNvSpPr/>
          <p:nvPr/>
        </p:nvSpPr>
        <p:spPr>
          <a:xfrm>
            <a:off x="6286500" y="5162550"/>
            <a:ext cx="5095875" cy="257175"/>
          </a:xfrm>
          <a:prstGeom prst="rect">
            <a:avLst/>
          </a:prstGeom>
          <a:noFill/>
          <a:ln/>
        </p:spPr>
        <p:txBody>
          <a:bodyPr wrap="square" lIns="0" tIns="0" rIns="0" bIns="0" rtlCol="0" anchor="t"/>
          <a:lstStyle/>
          <a:p>
            <a:pPr indent="0" marL="0">
              <a:buNone/>
            </a:pPr>
            <a:r>
              <a:rPr lang="en-US" sz="1350" dirty="0">
                <a:solidFill>
                  <a:srgbClr val="A1432C"/>
                </a:solidFill>
                <a:latin typeface="Noto Sans KR" pitchFamily="34" charset="0"/>
                <a:ea typeface="Noto Sans KR" pitchFamily="34" charset="-122"/>
                <a:cs typeface="Noto Sans KR" pitchFamily="34" charset="-120"/>
              </a:rPr>
              <a:t>0 SOL moved · after destination state update</a:t>
            </a:r>
            <a:endParaRPr lang="en-US" sz="1350" dirty="0"/>
          </a:p>
        </p:txBody>
      </p:sp>
      <p:sp>
        <p:nvSpPr>
          <p:cNvPr id="19" name="Text 17"/>
          <p:cNvSpPr/>
          <p:nvPr/>
        </p:nvSpPr>
        <p:spPr>
          <a:xfrm>
            <a:off x="533400" y="5895975"/>
            <a:ext cx="11125200" cy="266700"/>
          </a:xfrm>
          <a:prstGeom prst="rect">
            <a:avLst/>
          </a:prstGeom>
          <a:noFill/>
          <a:ln/>
        </p:spPr>
        <p:txBody>
          <a:bodyPr wrap="square" lIns="0" tIns="0" rIns="0" bIns="0" rtlCol="0" anchor="t"/>
          <a:lstStyle/>
          <a:p>
            <a:pPr indent="0" marL="0">
              <a:buNone/>
            </a:pPr>
            <a:r>
              <a:rPr lang="en-US" sz="1200" b="1" dirty="0">
                <a:solidFill>
                  <a:srgbClr val="B9D5C8"/>
                </a:solidFill>
                <a:latin typeface="Noto Sans KR" pitchFamily="34" charset="0"/>
                <a:ea typeface="Noto Sans KR" pitchFamily="34" charset="-122"/>
                <a:cs typeface="Noto Sans KR" pitchFamily="34" charset="-120"/>
              </a:rPr>
              <a:t>PRIVATE POLICY  →  AUTHORIZATION  →  PAYMENT  →  REVOCATION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533400" y="333375"/>
            <a:ext cx="266700" cy="38100"/>
          </a:xfrm>
          <a:prstGeom prst="rect">
            <a:avLst/>
          </a:prstGeom>
          <a:solidFill>
            <a:srgbClr val="174B3C"/>
          </a:solidFill>
          <a:ln w="10160">
            <a:solidFill>
              <a:srgbClr val="174B3C"/>
            </a:solidFill>
            <a:prstDash val="solid"/>
          </a:ln>
        </p:spPr>
      </p:sp>
      <p:sp>
        <p:nvSpPr>
          <p:cNvPr id="3" name="Text 1"/>
          <p:cNvSpPr/>
          <p:nvPr/>
        </p:nvSpPr>
        <p:spPr>
          <a:xfrm>
            <a:off x="952500" y="238125"/>
            <a:ext cx="9334500" cy="285750"/>
          </a:xfrm>
          <a:prstGeom prst="rect">
            <a:avLst/>
          </a:prstGeom>
          <a:noFill/>
          <a:ln/>
        </p:spPr>
        <p:txBody>
          <a:bodyPr wrap="square" lIns="0" tIns="0" rIns="0" bIns="0" rtlCol="0" anchor="t"/>
          <a:lstStyle/>
          <a:p>
            <a:pPr indent="0" marL="0">
              <a:buNone/>
            </a:pPr>
            <a:r>
              <a:rPr lang="en-US" sz="975" b="1" dirty="0">
                <a:solidFill>
                  <a:srgbClr val="174B3C"/>
                </a:solidFill>
                <a:latin typeface="Noto Sans KR" pitchFamily="34" charset="0"/>
                <a:ea typeface="Noto Sans KR" pitchFamily="34" charset="-122"/>
                <a:cs typeface="Noto Sans KR" pitchFamily="34" charset="-120"/>
              </a:rPr>
              <a:t>01 / WHY ZERO KNOWLEDGE</a:t>
            </a:r>
            <a:endParaRPr lang="en-US" sz="975" dirty="0"/>
          </a:p>
        </p:txBody>
      </p:sp>
      <p:sp>
        <p:nvSpPr>
          <p:cNvPr id="4" name="Text 2"/>
          <p:cNvSpPr/>
          <p:nvPr/>
        </p:nvSpPr>
        <p:spPr>
          <a:xfrm>
            <a:off x="10477500" y="219075"/>
            <a:ext cx="1238250" cy="333375"/>
          </a:xfrm>
          <a:prstGeom prst="rect">
            <a:avLst/>
          </a:prstGeom>
          <a:noFill/>
          <a:ln/>
        </p:spPr>
        <p:txBody>
          <a:bodyPr wrap="square" lIns="0" tIns="0" rIns="0" bIns="0" rtlCol="0" anchor="t"/>
          <a:lstStyle/>
          <a:p>
            <a:pPr indent="0" marL="0">
              <a:buNone/>
            </a:pPr>
            <a:r>
              <a:rPr lang="en-US" sz="1350" b="1" dirty="0">
                <a:solidFill>
                  <a:srgbClr val="174B3C"/>
                </a:solidFill>
                <a:latin typeface="Noto Sans KR" pitchFamily="34" charset="0"/>
                <a:ea typeface="Noto Sans KR" pitchFamily="34" charset="-122"/>
                <a:cs typeface="Noto Sans KR" pitchFamily="34" charset="-120"/>
              </a:rPr>
              <a:t>ProofPass</a:t>
            </a:r>
            <a:endParaRPr lang="en-US" sz="1350" dirty="0"/>
          </a:p>
        </p:txBody>
      </p:sp>
      <p:sp>
        <p:nvSpPr>
          <p:cNvPr id="5" name="Text 3"/>
          <p:cNvSpPr/>
          <p:nvPr/>
        </p:nvSpPr>
        <p:spPr>
          <a:xfrm>
            <a:off x="533400" y="866775"/>
            <a:ext cx="11144250" cy="1333500"/>
          </a:xfrm>
          <a:prstGeom prst="rect">
            <a:avLst/>
          </a:prstGeom>
          <a:noFill/>
          <a:ln/>
        </p:spPr>
        <p:txBody>
          <a:bodyPr wrap="square" lIns="0" tIns="0" rIns="0" bIns="0" rtlCol="0" anchor="t"/>
          <a:lstStyle/>
          <a:p>
            <a:pPr indent="0" marL="0">
              <a:buNone/>
            </a:pPr>
            <a:r>
              <a:rPr lang="en-US" sz="3300" b="1" dirty="0">
                <a:solidFill>
                  <a:srgbClr val="142E28"/>
                </a:solidFill>
                <a:latin typeface="Noto Sans KR" pitchFamily="34" charset="0"/>
                <a:ea typeface="Noto Sans KR" pitchFamily="34" charset="-122"/>
                <a:cs typeface="Noto Sans KR" pitchFamily="34" charset="-120"/>
              </a:rPr>
              <a:t>한도를 공개하지 않고,</a:t>
            </a:r>
            <a:endParaRPr lang="en-US" sz="3300" dirty="0"/>
          </a:p>
          <a:p>
            <a:pPr indent="0" marL="0">
              <a:buNone/>
            </a:pPr>
            <a:r>
              <a:rPr lang="en-US" sz="3300" b="1" dirty="0">
                <a:solidFill>
                  <a:srgbClr val="142E28"/>
                </a:solidFill>
                <a:latin typeface="Noto Sans KR" pitchFamily="34" charset="0"/>
                <a:ea typeface="Noto Sans KR" pitchFamily="34" charset="-122"/>
                <a:cs typeface="Noto Sans KR" pitchFamily="34" charset="-120"/>
              </a:rPr>
              <a:t>이 요청이 허용됨을 증명합니다.</a:t>
            </a:r>
            <a:endParaRPr lang="en-US" sz="3300" dirty="0"/>
          </a:p>
        </p:txBody>
      </p:sp>
      <p:sp>
        <p:nvSpPr>
          <p:cNvPr id="6" name="Text 4"/>
          <p:cNvSpPr/>
          <p:nvPr/>
        </p:nvSpPr>
        <p:spPr>
          <a:xfrm>
            <a:off x="533400" y="2143125"/>
            <a:ext cx="11144250" cy="476250"/>
          </a:xfrm>
          <a:prstGeom prst="rect">
            <a:avLst/>
          </a:prstGeom>
          <a:noFill/>
          <a:ln/>
        </p:spPr>
        <p:txBody>
          <a:bodyPr wrap="square" lIns="0" tIns="0" rIns="0" bIns="0" rtlCol="0" anchor="t"/>
          <a:lstStyle/>
          <a:p>
            <a:pPr indent="0" marL="0">
              <a:buNone/>
            </a:pPr>
            <a:r>
              <a:rPr lang="en-US" sz="1650" dirty="0">
                <a:solidFill>
                  <a:srgbClr val="62736D"/>
                </a:solidFill>
                <a:latin typeface="Noto Sans KR" pitchFamily="34" charset="0"/>
                <a:ea typeface="Noto Sans KR" pitchFamily="34" charset="-122"/>
                <a:cs typeface="Noto Sans KR" pitchFamily="34" charset="-120"/>
              </a:rPr>
              <a:t>payment.amount ≤ mandate.maxPerTx</a:t>
            </a:r>
            <a:endParaRPr lang="en-US" sz="1650" dirty="0"/>
          </a:p>
        </p:txBody>
      </p:sp>
      <p:sp>
        <p:nvSpPr>
          <p:cNvPr id="7" name="Shape 5"/>
          <p:cNvSpPr/>
          <p:nvPr/>
        </p:nvSpPr>
        <p:spPr>
          <a:xfrm>
            <a:off x="533400" y="6334125"/>
            <a:ext cx="11125200" cy="9525"/>
          </a:xfrm>
          <a:prstGeom prst="rect">
            <a:avLst/>
          </a:prstGeom>
          <a:solidFill>
            <a:srgbClr val="DCE5DF"/>
          </a:solidFill>
          <a:ln w="10160">
            <a:solidFill>
              <a:srgbClr val="DCE5DF"/>
            </a:solidFill>
            <a:prstDash val="solid"/>
          </a:ln>
        </p:spPr>
      </p:sp>
      <p:sp>
        <p:nvSpPr>
          <p:cNvPr id="8" name="Text 6"/>
          <p:cNvSpPr/>
          <p:nvPr/>
        </p:nvSpPr>
        <p:spPr>
          <a:xfrm>
            <a:off x="533400" y="6496050"/>
            <a:ext cx="10096500" cy="219075"/>
          </a:xfrm>
          <a:prstGeom prst="rect">
            <a:avLst/>
          </a:prstGeom>
          <a:noFill/>
          <a:ln/>
        </p:spPr>
        <p:txBody>
          <a:bodyPr wrap="square" lIns="0" tIns="0" rIns="0" bIns="0" rtlCol="0" anchor="t"/>
          <a:lstStyle/>
          <a:p>
            <a:pPr indent="0" marL="0">
              <a:buNone/>
            </a:pPr>
            <a:r>
              <a:rPr lang="en-US" sz="900" dirty="0">
                <a:solidFill>
                  <a:srgbClr val="62736D"/>
                </a:solidFill>
                <a:latin typeface="Noto Sans KR" pitchFamily="34" charset="0"/>
                <a:ea typeface="Noto Sans KR" pitchFamily="34" charset="-122"/>
                <a:cs typeface="Noto Sans KR" pitchFamily="34" charset="-120"/>
              </a:rPr>
              <a:t>Stored testnet run 2026-09-21  ·  Hackathon reference implementation</a:t>
            </a:r>
            <a:endParaRPr lang="en-US" sz="900" dirty="0"/>
          </a:p>
        </p:txBody>
      </p:sp>
      <p:sp>
        <p:nvSpPr>
          <p:cNvPr id="9" name="Text 7"/>
          <p:cNvSpPr/>
          <p:nvPr/>
        </p:nvSpPr>
        <p:spPr>
          <a:xfrm>
            <a:off x="10858500" y="6496050"/>
            <a:ext cx="857250" cy="219075"/>
          </a:xfrm>
          <a:prstGeom prst="rect">
            <a:avLst/>
          </a:prstGeom>
          <a:noFill/>
          <a:ln/>
        </p:spPr>
        <p:txBody>
          <a:bodyPr wrap="square" lIns="0" tIns="0" rIns="0" bIns="0" rtlCol="0" anchor="t"/>
          <a:lstStyle/>
          <a:p>
            <a:pPr indent="0" marL="0">
              <a:buNone/>
            </a:pPr>
            <a:r>
              <a:rPr lang="en-US" sz="900" b="1" dirty="0">
                <a:solidFill>
                  <a:srgbClr val="62736D"/>
                </a:solidFill>
                <a:latin typeface="Noto Sans KR" pitchFamily="34" charset="0"/>
                <a:ea typeface="Noto Sans KR" pitchFamily="34" charset="-122"/>
                <a:cs typeface="Noto Sans KR" pitchFamily="34" charset="-120"/>
              </a:rPr>
              <a:t>02 / 07</a:t>
            </a:r>
            <a:endParaRPr lang="en-US" sz="900" dirty="0"/>
          </a:p>
        </p:txBody>
      </p:sp>
      <p:sp>
        <p:nvSpPr>
          <p:cNvPr id="10" name="Shape 8"/>
          <p:cNvSpPr/>
          <p:nvPr/>
        </p:nvSpPr>
        <p:spPr>
          <a:xfrm>
            <a:off x="533400" y="2933700"/>
            <a:ext cx="4857750" cy="2838450"/>
          </a:xfrm>
          <a:prstGeom prst="rect">
            <a:avLst/>
          </a:prstGeom>
          <a:solidFill>
            <a:srgbClr val="FFFFFF"/>
          </a:solidFill>
          <a:ln w="10160">
            <a:solidFill>
              <a:srgbClr val="DCE5DF"/>
            </a:solidFill>
            <a:prstDash val="solid"/>
          </a:ln>
        </p:spPr>
      </p:sp>
      <p:sp>
        <p:nvSpPr>
          <p:cNvPr id="11" name="Shape 9"/>
          <p:cNvSpPr/>
          <p:nvPr/>
        </p:nvSpPr>
        <p:spPr>
          <a:xfrm>
            <a:off x="5619750" y="2933700"/>
            <a:ext cx="6038850" cy="2838450"/>
          </a:xfrm>
          <a:prstGeom prst="rect">
            <a:avLst/>
          </a:prstGeom>
          <a:solidFill>
            <a:srgbClr val="EEF1F8"/>
          </a:solidFill>
          <a:ln w="10160">
            <a:solidFill>
              <a:srgbClr val="EEF1F8"/>
            </a:solidFill>
            <a:prstDash val="solid"/>
          </a:ln>
        </p:spPr>
      </p:sp>
      <p:sp>
        <p:nvSpPr>
          <p:cNvPr id="12" name="Text 10"/>
          <p:cNvSpPr/>
          <p:nvPr/>
        </p:nvSpPr>
        <p:spPr>
          <a:xfrm>
            <a:off x="762000" y="3143250"/>
            <a:ext cx="4400550" cy="266700"/>
          </a:xfrm>
          <a:prstGeom prst="rect">
            <a:avLst/>
          </a:prstGeom>
          <a:noFill/>
          <a:ln/>
        </p:spPr>
        <p:txBody>
          <a:bodyPr wrap="square" lIns="0" tIns="0" rIns="0" bIns="0" rtlCol="0" anchor="t"/>
          <a:lstStyle/>
          <a:p>
            <a:pPr indent="0" marL="0">
              <a:buNone/>
            </a:pPr>
            <a:r>
              <a:rPr lang="en-US" sz="1275" b="1" dirty="0">
                <a:solidFill>
                  <a:srgbClr val="62736D"/>
                </a:solidFill>
                <a:latin typeface="Noto Sans KR" pitchFamily="34" charset="0"/>
                <a:ea typeface="Noto Sans KR" pitchFamily="34" charset="-122"/>
                <a:cs typeface="Noto Sans KR" pitchFamily="34" charset="-120"/>
              </a:rPr>
              <a:t>PRIVATE INPUTS</a:t>
            </a:r>
            <a:endParaRPr lang="en-US" sz="1275" dirty="0"/>
          </a:p>
        </p:txBody>
      </p:sp>
      <p:sp>
        <p:nvSpPr>
          <p:cNvPr id="13" name="Text 11"/>
          <p:cNvSpPr/>
          <p:nvPr/>
        </p:nvSpPr>
        <p:spPr>
          <a:xfrm>
            <a:off x="762000" y="3619500"/>
            <a:ext cx="4400550" cy="1476375"/>
          </a:xfrm>
          <a:prstGeom prst="rect">
            <a:avLst/>
          </a:prstGeom>
          <a:noFill/>
          <a:ln/>
        </p:spPr>
        <p:txBody>
          <a:bodyPr wrap="square" lIns="0" tIns="0" rIns="0" bIns="0" rtlCol="0" anchor="t"/>
          <a:lstStyle/>
          <a:p>
            <a:pPr indent="0" marL="0">
              <a:buNone/>
            </a:pPr>
            <a:r>
              <a:rPr lang="en-US" sz="1950" b="1" dirty="0">
                <a:solidFill>
                  <a:srgbClr val="142E28"/>
                </a:solidFill>
                <a:latin typeface="Noto Sans KR" pitchFamily="34" charset="0"/>
                <a:ea typeface="Noto Sans KR" pitchFamily="34" charset="-122"/>
                <a:cs typeface="Noto Sans KR" pitchFamily="34" charset="-120"/>
              </a:rPr>
              <a:t>Identity details           HIDDEN</a:t>
            </a:r>
            <a:endParaRPr lang="en-US" sz="1950" dirty="0"/>
          </a:p>
          <a:p>
            <a:pPr indent="0" marL="0">
              <a:buNone/>
            </a:pPr>
            <a:r>
              <a:rPr lang="en-US" sz="1950" b="1" dirty="0">
                <a:solidFill>
                  <a:srgbClr val="142E28"/>
                </a:solidFill>
                <a:latin typeface="Noto Sans KR" pitchFamily="34" charset="0"/>
                <a:ea typeface="Noto Sans KR" pitchFamily="34" charset="-122"/>
                <a:cs typeface="Noto Sans KR" pitchFamily="34" charset="-120"/>
              </a:rPr>
              <a:t>Full mandate             HIDDEN</a:t>
            </a:r>
            <a:endParaRPr lang="en-US" sz="1950" dirty="0"/>
          </a:p>
          <a:p>
            <a:pPr indent="0" marL="0">
              <a:buNone/>
            </a:pPr>
            <a:r>
              <a:rPr lang="en-US" sz="1950" b="1" dirty="0">
                <a:solidFill>
                  <a:srgbClr val="142E28"/>
                </a:solidFill>
                <a:latin typeface="Noto Sans KR" pitchFamily="34" charset="0"/>
                <a:ea typeface="Noto Sans KR" pitchFamily="34" charset="-122"/>
                <a:cs typeface="Noto Sans KR" pitchFamily="34" charset="-120"/>
              </a:rPr>
              <a:t>Per-transaction limit   HIDDEN</a:t>
            </a:r>
            <a:endParaRPr lang="en-US" sz="1950" dirty="0"/>
          </a:p>
        </p:txBody>
      </p:sp>
      <p:sp>
        <p:nvSpPr>
          <p:cNvPr id="14" name="Text 12"/>
          <p:cNvSpPr/>
          <p:nvPr/>
        </p:nvSpPr>
        <p:spPr>
          <a:xfrm>
            <a:off x="762000" y="5276850"/>
            <a:ext cx="4400550" cy="304800"/>
          </a:xfrm>
          <a:prstGeom prst="rect">
            <a:avLst/>
          </a:prstGeom>
          <a:noFill/>
          <a:ln/>
        </p:spPr>
        <p:txBody>
          <a:bodyPr wrap="square" lIns="0" tIns="0" rIns="0" bIns="0" rtlCol="0" anchor="t"/>
          <a:lstStyle/>
          <a:p>
            <a:pPr indent="0" marL="0">
              <a:buNone/>
            </a:pPr>
            <a:r>
              <a:rPr lang="en-US" sz="1275" dirty="0">
                <a:solidFill>
                  <a:srgbClr val="62736D"/>
                </a:solidFill>
                <a:latin typeface="Noto Sans KR" pitchFamily="34" charset="0"/>
                <a:ea typeface="Noto Sans KR" pitchFamily="34" charset="-122"/>
                <a:cs typeface="Noto Sans KR" pitchFamily="34" charset="-120"/>
              </a:rPr>
              <a:t>로컬 어댑터·prover는 원문을 처리합니다.</a:t>
            </a:r>
            <a:endParaRPr lang="en-US" sz="1275" dirty="0"/>
          </a:p>
        </p:txBody>
      </p:sp>
      <p:sp>
        <p:nvSpPr>
          <p:cNvPr id="15" name="Text 13"/>
          <p:cNvSpPr/>
          <p:nvPr/>
        </p:nvSpPr>
        <p:spPr>
          <a:xfrm>
            <a:off x="5848350" y="3143250"/>
            <a:ext cx="5581650" cy="266700"/>
          </a:xfrm>
          <a:prstGeom prst="rect">
            <a:avLst/>
          </a:prstGeom>
          <a:noFill/>
          <a:ln/>
        </p:spPr>
        <p:txBody>
          <a:bodyPr wrap="square" lIns="0" tIns="0" rIns="0" bIns="0" rtlCol="0" anchor="t"/>
          <a:lstStyle/>
          <a:p>
            <a:pPr indent="0" marL="0">
              <a:buNone/>
            </a:pPr>
            <a:r>
              <a:rPr lang="en-US" sz="1275" b="1" dirty="0">
                <a:solidFill>
                  <a:srgbClr val="62736D"/>
                </a:solidFill>
                <a:latin typeface="Noto Sans KR" pitchFamily="34" charset="0"/>
                <a:ea typeface="Noto Sans KR" pitchFamily="34" charset="-122"/>
                <a:cs typeface="Noto Sans KR" pitchFamily="34" charset="-120"/>
              </a:rPr>
              <a:t>PUBLIC REQUEST / PRIVATE COMPARISON</a:t>
            </a:r>
            <a:endParaRPr lang="en-US" sz="1275" dirty="0"/>
          </a:p>
        </p:txBody>
      </p:sp>
      <p:sp>
        <p:nvSpPr>
          <p:cNvPr id="16" name="Text 14"/>
          <p:cNvSpPr/>
          <p:nvPr/>
        </p:nvSpPr>
        <p:spPr>
          <a:xfrm>
            <a:off x="5848350" y="3629025"/>
            <a:ext cx="5581650" cy="619125"/>
          </a:xfrm>
          <a:prstGeom prst="rect">
            <a:avLst/>
          </a:prstGeom>
          <a:noFill/>
          <a:ln/>
        </p:spPr>
        <p:txBody>
          <a:bodyPr wrap="square" lIns="0" tIns="0" rIns="0" bIns="0" rtlCol="0" anchor="t"/>
          <a:lstStyle/>
          <a:p>
            <a:pPr indent="0" marL="0">
              <a:buNone/>
            </a:pPr>
            <a:r>
              <a:rPr lang="en-US" sz="2925" b="1" dirty="0">
                <a:solidFill>
                  <a:srgbClr val="174B3C"/>
                </a:solidFill>
                <a:latin typeface="Noto Sans KR" pitchFamily="34" charset="0"/>
                <a:ea typeface="Noto Sans KR" pitchFamily="34" charset="-122"/>
                <a:cs typeface="Noto Sans KR" pitchFamily="34" charset="-120"/>
              </a:rPr>
              <a:t>0.05 SOL ≤ [HIDDEN]</a:t>
            </a:r>
            <a:endParaRPr lang="en-US" sz="2925" dirty="0"/>
          </a:p>
        </p:txBody>
      </p:sp>
      <p:sp>
        <p:nvSpPr>
          <p:cNvPr id="17" name="Text 15"/>
          <p:cNvSpPr/>
          <p:nvPr/>
        </p:nvSpPr>
        <p:spPr>
          <a:xfrm>
            <a:off x="5848350" y="4314825"/>
            <a:ext cx="5581650" cy="419100"/>
          </a:xfrm>
          <a:prstGeom prst="rect">
            <a:avLst/>
          </a:prstGeom>
          <a:noFill/>
          <a:ln/>
        </p:spPr>
        <p:txBody>
          <a:bodyPr wrap="square" lIns="0" tIns="0" rIns="0" bIns="0" rtlCol="0" anchor="t"/>
          <a:lstStyle/>
          <a:p>
            <a:pPr indent="0" marL="0">
              <a:buNone/>
            </a:pPr>
            <a:r>
              <a:rPr lang="en-US" sz="1950" b="1" dirty="0">
                <a:solidFill>
                  <a:srgbClr val="174B3C"/>
                </a:solidFill>
                <a:latin typeface="Noto Sans KR" pitchFamily="34" charset="0"/>
                <a:ea typeface="Noto Sans KR" pitchFamily="34" charset="-122"/>
                <a:cs typeface="Noto Sans KR" pitchFamily="34" charset="-120"/>
              </a:rPr>
              <a:t>✓ AUTHORIZATION CREATED</a:t>
            </a:r>
            <a:endParaRPr lang="en-US" sz="1950" dirty="0"/>
          </a:p>
        </p:txBody>
      </p:sp>
      <p:sp>
        <p:nvSpPr>
          <p:cNvPr id="18" name="Text 16"/>
          <p:cNvSpPr/>
          <p:nvPr/>
        </p:nvSpPr>
        <p:spPr>
          <a:xfrm>
            <a:off x="5848350" y="4933950"/>
            <a:ext cx="5581650" cy="381000"/>
          </a:xfrm>
          <a:prstGeom prst="rect">
            <a:avLst/>
          </a:prstGeom>
          <a:noFill/>
          <a:ln/>
        </p:spPr>
        <p:txBody>
          <a:bodyPr wrap="square" lIns="0" tIns="0" rIns="0" bIns="0" rtlCol="0" anchor="t"/>
          <a:lstStyle/>
          <a:p>
            <a:pPr indent="0" marL="0">
              <a:buNone/>
            </a:pPr>
            <a:r>
              <a:rPr lang="en-US" sz="2100" b="1" dirty="0">
                <a:solidFill>
                  <a:srgbClr val="A1432C"/>
                </a:solidFill>
                <a:latin typeface="Noto Sans KR" pitchFamily="34" charset="0"/>
                <a:ea typeface="Noto Sans KR" pitchFamily="34" charset="-122"/>
                <a:cs typeface="Noto Sans KR" pitchFamily="34" charset="-120"/>
              </a:rPr>
              <a:t>0.15 SOL → 승인 생성 거절</a:t>
            </a:r>
            <a:endParaRPr lang="en-US" sz="2100" dirty="0"/>
          </a:p>
        </p:txBody>
      </p:sp>
      <p:sp>
        <p:nvSpPr>
          <p:cNvPr id="19" name="Text 17"/>
          <p:cNvSpPr/>
          <p:nvPr/>
        </p:nvSpPr>
        <p:spPr>
          <a:xfrm>
            <a:off x="5848350" y="5372100"/>
            <a:ext cx="5581650" cy="247650"/>
          </a:xfrm>
          <a:prstGeom prst="rect">
            <a:avLst/>
          </a:prstGeom>
          <a:noFill/>
          <a:ln/>
        </p:spPr>
        <p:txBody>
          <a:bodyPr wrap="square" lIns="0" tIns="0" rIns="0" bIns="0" rtlCol="0" anchor="t"/>
          <a:lstStyle/>
          <a:p>
            <a:pPr indent="0" marL="0">
              <a:buNone/>
            </a:pPr>
            <a:r>
              <a:rPr lang="en-US" sz="1275" dirty="0">
                <a:solidFill>
                  <a:srgbClr val="62736D"/>
                </a:solidFill>
                <a:latin typeface="Noto Sans KR" pitchFamily="34" charset="0"/>
                <a:ea typeface="Noto Sans KR" pitchFamily="34" charset="-122"/>
                <a:cs typeface="Noto Sans KR" pitchFamily="34" charset="-120"/>
              </a:rPr>
              <a:t>체인 미제출 · 온체인 실패 proof 없음</a:t>
            </a:r>
            <a:endParaRPr lang="en-US" sz="1275" dirty="0"/>
          </a:p>
        </p:txBody>
      </p:sp>
      <p:sp>
        <p:nvSpPr>
          <p:cNvPr id="20" name="Text 18"/>
          <p:cNvSpPr/>
          <p:nvPr/>
        </p:nvSpPr>
        <p:spPr>
          <a:xfrm>
            <a:off x="533400" y="5895975"/>
            <a:ext cx="11125200" cy="361950"/>
          </a:xfrm>
          <a:prstGeom prst="rect">
            <a:avLst/>
          </a:prstGeom>
          <a:noFill/>
          <a:ln/>
        </p:spPr>
        <p:txBody>
          <a:bodyPr wrap="square" lIns="0" tIns="0" rIns="0" bIns="0" rtlCol="0" anchor="t"/>
          <a:lstStyle/>
          <a:p>
            <a:pPr indent="0" marL="0">
              <a:buNone/>
            </a:pPr>
            <a:r>
              <a:rPr lang="en-US" sz="1275" dirty="0">
                <a:solidFill>
                  <a:srgbClr val="62736D"/>
                </a:solidFill>
                <a:latin typeface="Noto Sans KR" pitchFamily="34" charset="0"/>
                <a:ea typeface="Noto Sans KR" pitchFamily="34" charset="-122"/>
                <a:cs typeface="Noto Sans KR" pitchFamily="34" charset="-120"/>
              </a:rPr>
              <a:t>설명용 데모 한도: 0.10 SOL. 한도 원문은 목적지에 전달되지 않습니다. 거래 금액·주소와 XRPL 자격 자체는 공개입니다.</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533400" y="333375"/>
            <a:ext cx="266700" cy="38100"/>
          </a:xfrm>
          <a:prstGeom prst="rect">
            <a:avLst/>
          </a:prstGeom>
          <a:solidFill>
            <a:srgbClr val="174B3C"/>
          </a:solidFill>
          <a:ln w="10160">
            <a:solidFill>
              <a:srgbClr val="174B3C"/>
            </a:solidFill>
            <a:prstDash val="solid"/>
          </a:ln>
        </p:spPr>
      </p:sp>
      <p:sp>
        <p:nvSpPr>
          <p:cNvPr id="3" name="Text 1"/>
          <p:cNvSpPr/>
          <p:nvPr/>
        </p:nvSpPr>
        <p:spPr>
          <a:xfrm>
            <a:off x="952500" y="238125"/>
            <a:ext cx="9334500" cy="285750"/>
          </a:xfrm>
          <a:prstGeom prst="rect">
            <a:avLst/>
          </a:prstGeom>
          <a:noFill/>
          <a:ln/>
        </p:spPr>
        <p:txBody>
          <a:bodyPr wrap="square" lIns="0" tIns="0" rIns="0" bIns="0" rtlCol="0" anchor="t"/>
          <a:lstStyle/>
          <a:p>
            <a:pPr indent="0" marL="0">
              <a:buNone/>
            </a:pPr>
            <a:r>
              <a:rPr lang="en-US" sz="975" b="1" dirty="0">
                <a:solidFill>
                  <a:srgbClr val="174B3C"/>
                </a:solidFill>
                <a:latin typeface="Noto Sans KR" pitchFamily="34" charset="0"/>
                <a:ea typeface="Noto Sans KR" pitchFamily="34" charset="-122"/>
                <a:cs typeface="Noto Sans KR" pitchFamily="34" charset="-120"/>
              </a:rPr>
              <a:t>02 / BUILT, NOT JUST PROPOSED</a:t>
            </a:r>
            <a:endParaRPr lang="en-US" sz="975" dirty="0"/>
          </a:p>
        </p:txBody>
      </p:sp>
      <p:sp>
        <p:nvSpPr>
          <p:cNvPr id="4" name="Text 2"/>
          <p:cNvSpPr/>
          <p:nvPr/>
        </p:nvSpPr>
        <p:spPr>
          <a:xfrm>
            <a:off x="10477500" y="219075"/>
            <a:ext cx="1238250" cy="333375"/>
          </a:xfrm>
          <a:prstGeom prst="rect">
            <a:avLst/>
          </a:prstGeom>
          <a:noFill/>
          <a:ln/>
        </p:spPr>
        <p:txBody>
          <a:bodyPr wrap="square" lIns="0" tIns="0" rIns="0" bIns="0" rtlCol="0" anchor="t"/>
          <a:lstStyle/>
          <a:p>
            <a:pPr indent="0" marL="0">
              <a:buNone/>
            </a:pPr>
            <a:r>
              <a:rPr lang="en-US" sz="1350" b="1" dirty="0">
                <a:solidFill>
                  <a:srgbClr val="174B3C"/>
                </a:solidFill>
                <a:latin typeface="Noto Sans KR" pitchFamily="34" charset="0"/>
                <a:ea typeface="Noto Sans KR" pitchFamily="34" charset="-122"/>
                <a:cs typeface="Noto Sans KR" pitchFamily="34" charset="-120"/>
              </a:rPr>
              <a:t>ProofPass</a:t>
            </a:r>
            <a:endParaRPr lang="en-US" sz="1350" dirty="0"/>
          </a:p>
        </p:txBody>
      </p:sp>
      <p:sp>
        <p:nvSpPr>
          <p:cNvPr id="5" name="Text 3"/>
          <p:cNvSpPr/>
          <p:nvPr/>
        </p:nvSpPr>
        <p:spPr>
          <a:xfrm>
            <a:off x="533400" y="866775"/>
            <a:ext cx="11144250" cy="714375"/>
          </a:xfrm>
          <a:prstGeom prst="rect">
            <a:avLst/>
          </a:prstGeom>
          <a:noFill/>
          <a:ln/>
        </p:spPr>
        <p:txBody>
          <a:bodyPr wrap="square" lIns="0" tIns="0" rIns="0" bIns="0" rtlCol="0" anchor="t"/>
          <a:lstStyle/>
          <a:p>
            <a:pPr indent="0" marL="0">
              <a:buNone/>
            </a:pPr>
            <a:r>
              <a:rPr lang="en-US" sz="3300" b="1" dirty="0">
                <a:solidFill>
                  <a:srgbClr val="142E28"/>
                </a:solidFill>
                <a:latin typeface="Noto Sans KR" pitchFamily="34" charset="0"/>
                <a:ea typeface="Noto Sans KR" pitchFamily="34" charset="-122"/>
                <a:cs typeface="Noto Sans KR" pitchFamily="34" charset="-120"/>
              </a:rPr>
              <a:t>신원 근거에서 실제 지급까지</a:t>
            </a:r>
            <a:endParaRPr lang="en-US" sz="3300" dirty="0"/>
          </a:p>
        </p:txBody>
      </p:sp>
      <p:sp>
        <p:nvSpPr>
          <p:cNvPr id="6" name="Text 4"/>
          <p:cNvSpPr/>
          <p:nvPr/>
        </p:nvSpPr>
        <p:spPr>
          <a:xfrm>
            <a:off x="533400" y="1609725"/>
            <a:ext cx="11144250" cy="476250"/>
          </a:xfrm>
          <a:prstGeom prst="rect">
            <a:avLst/>
          </a:prstGeom>
          <a:noFill/>
          <a:ln/>
        </p:spPr>
        <p:txBody>
          <a:bodyPr wrap="square" lIns="0" tIns="0" rIns="0" bIns="0" rtlCol="0" anchor="t"/>
          <a:lstStyle/>
          <a:p>
            <a:pPr indent="0" marL="0">
              <a:buNone/>
            </a:pPr>
            <a:r>
              <a:rPr lang="en-US" sz="1650" dirty="0">
                <a:solidFill>
                  <a:srgbClr val="62736D"/>
                </a:solidFill>
                <a:latin typeface="Noto Sans KR" pitchFamily="34" charset="0"/>
                <a:ea typeface="Noto Sans KR" pitchFamily="34" charset="-122"/>
                <a:cs typeface="Noto Sans KR" pitchFamily="34" charset="-120"/>
              </a:rPr>
              <a:t>OpenDID SDK → XRPL Testnet → Midnight Preprod → Solana Devnet</a:t>
            </a:r>
            <a:endParaRPr lang="en-US" sz="1650" dirty="0"/>
          </a:p>
        </p:txBody>
      </p:sp>
      <p:sp>
        <p:nvSpPr>
          <p:cNvPr id="7" name="Shape 5"/>
          <p:cNvSpPr/>
          <p:nvPr/>
        </p:nvSpPr>
        <p:spPr>
          <a:xfrm>
            <a:off x="533400" y="6334125"/>
            <a:ext cx="11125200" cy="9525"/>
          </a:xfrm>
          <a:prstGeom prst="rect">
            <a:avLst/>
          </a:prstGeom>
          <a:solidFill>
            <a:srgbClr val="DCE5DF"/>
          </a:solidFill>
          <a:ln w="10160">
            <a:solidFill>
              <a:srgbClr val="DCE5DF"/>
            </a:solidFill>
            <a:prstDash val="solid"/>
          </a:ln>
        </p:spPr>
      </p:sp>
      <p:sp>
        <p:nvSpPr>
          <p:cNvPr id="8" name="Text 6"/>
          <p:cNvSpPr/>
          <p:nvPr/>
        </p:nvSpPr>
        <p:spPr>
          <a:xfrm>
            <a:off x="533400" y="6496050"/>
            <a:ext cx="10096500" cy="219075"/>
          </a:xfrm>
          <a:prstGeom prst="rect">
            <a:avLst/>
          </a:prstGeom>
          <a:noFill/>
          <a:ln/>
        </p:spPr>
        <p:txBody>
          <a:bodyPr wrap="square" lIns="0" tIns="0" rIns="0" bIns="0" rtlCol="0" anchor="t"/>
          <a:lstStyle/>
          <a:p>
            <a:pPr indent="0" marL="0">
              <a:buNone/>
            </a:pPr>
            <a:r>
              <a:rPr lang="en-US" sz="900" dirty="0">
                <a:solidFill>
                  <a:srgbClr val="62736D"/>
                </a:solidFill>
                <a:latin typeface="Noto Sans KR" pitchFamily="34" charset="0"/>
                <a:ea typeface="Noto Sans KR" pitchFamily="34" charset="-122"/>
                <a:cs typeface="Noto Sans KR" pitchFamily="34" charset="-120"/>
              </a:rPr>
              <a:t>Stored testnet run 2026-09-21  ·  Hackathon reference implementation</a:t>
            </a:r>
            <a:endParaRPr lang="en-US" sz="900" dirty="0"/>
          </a:p>
        </p:txBody>
      </p:sp>
      <p:sp>
        <p:nvSpPr>
          <p:cNvPr id="9" name="Text 7"/>
          <p:cNvSpPr/>
          <p:nvPr/>
        </p:nvSpPr>
        <p:spPr>
          <a:xfrm>
            <a:off x="10858500" y="6496050"/>
            <a:ext cx="857250" cy="219075"/>
          </a:xfrm>
          <a:prstGeom prst="rect">
            <a:avLst/>
          </a:prstGeom>
          <a:noFill/>
          <a:ln/>
        </p:spPr>
        <p:txBody>
          <a:bodyPr wrap="square" lIns="0" tIns="0" rIns="0" bIns="0" rtlCol="0" anchor="t"/>
          <a:lstStyle/>
          <a:p>
            <a:pPr indent="0" marL="0">
              <a:buNone/>
            </a:pPr>
            <a:r>
              <a:rPr lang="en-US" sz="900" b="1" dirty="0">
                <a:solidFill>
                  <a:srgbClr val="62736D"/>
                </a:solidFill>
                <a:latin typeface="Noto Sans KR" pitchFamily="34" charset="0"/>
                <a:ea typeface="Noto Sans KR" pitchFamily="34" charset="-122"/>
                <a:cs typeface="Noto Sans KR" pitchFamily="34" charset="-120"/>
              </a:rPr>
              <a:t>03 / 07</a:t>
            </a:r>
            <a:endParaRPr lang="en-US" sz="900" dirty="0"/>
          </a:p>
        </p:txBody>
      </p:sp>
      <p:sp>
        <p:nvSpPr>
          <p:cNvPr id="10" name="Shape 8"/>
          <p:cNvSpPr/>
          <p:nvPr/>
        </p:nvSpPr>
        <p:spPr>
          <a:xfrm>
            <a:off x="533400" y="2476500"/>
            <a:ext cx="2609850" cy="2286000"/>
          </a:xfrm>
          <a:prstGeom prst="rect">
            <a:avLst/>
          </a:prstGeom>
          <a:solidFill>
            <a:srgbClr val="FFFFFF"/>
          </a:solidFill>
          <a:ln w="10160">
            <a:solidFill>
              <a:srgbClr val="DCE5DF"/>
            </a:solidFill>
            <a:prstDash val="solid"/>
          </a:ln>
        </p:spPr>
      </p:sp>
      <p:sp>
        <p:nvSpPr>
          <p:cNvPr id="11" name="Text 9"/>
          <p:cNvSpPr/>
          <p:nvPr/>
        </p:nvSpPr>
        <p:spPr>
          <a:xfrm>
            <a:off x="742950" y="2676525"/>
            <a:ext cx="2190750" cy="333375"/>
          </a:xfrm>
          <a:prstGeom prst="rect">
            <a:avLst/>
          </a:prstGeom>
          <a:noFill/>
          <a:ln/>
        </p:spPr>
        <p:txBody>
          <a:bodyPr wrap="square" lIns="0" tIns="0" rIns="0" bIns="0" rtlCol="0" anchor="t"/>
          <a:lstStyle/>
          <a:p>
            <a:pPr indent="0" marL="0">
              <a:buNone/>
            </a:pPr>
            <a:r>
              <a:rPr lang="en-US" sz="1500" dirty="0">
                <a:solidFill>
                  <a:srgbClr val="62736D"/>
                </a:solidFill>
                <a:latin typeface="Noto Sans KR" pitchFamily="34" charset="0"/>
                <a:ea typeface="Noto Sans KR" pitchFamily="34" charset="-122"/>
                <a:cs typeface="Noto Sans KR" pitchFamily="34" charset="-120"/>
              </a:rPr>
              <a:t>01</a:t>
            </a:r>
            <a:endParaRPr lang="en-US" sz="1500" dirty="0"/>
          </a:p>
        </p:txBody>
      </p:sp>
      <p:sp>
        <p:nvSpPr>
          <p:cNvPr id="12" name="Text 10"/>
          <p:cNvSpPr/>
          <p:nvPr/>
        </p:nvSpPr>
        <p:spPr>
          <a:xfrm>
            <a:off x="742950" y="3181350"/>
            <a:ext cx="2190750" cy="400050"/>
          </a:xfrm>
          <a:prstGeom prst="rect">
            <a:avLst/>
          </a:prstGeom>
          <a:noFill/>
          <a:ln/>
        </p:spPr>
        <p:txBody>
          <a:bodyPr wrap="square" lIns="0" tIns="0" rIns="0" bIns="0" rtlCol="0" anchor="t"/>
          <a:lstStyle/>
          <a:p>
            <a:pPr indent="0" marL="0">
              <a:buNone/>
            </a:pPr>
            <a:r>
              <a:rPr lang="en-US" sz="1875" b="1" dirty="0">
                <a:solidFill>
                  <a:srgbClr val="174B3C"/>
                </a:solidFill>
                <a:latin typeface="Noto Sans KR" pitchFamily="34" charset="0"/>
                <a:ea typeface="Noto Sans KR" pitchFamily="34" charset="-122"/>
                <a:cs typeface="Noto Sans KR" pitchFamily="34" charset="-120"/>
              </a:rPr>
              <a:t>OpenDID SDK</a:t>
            </a:r>
            <a:endParaRPr lang="en-US" sz="1875" dirty="0"/>
          </a:p>
        </p:txBody>
      </p:sp>
      <p:sp>
        <p:nvSpPr>
          <p:cNvPr id="13" name="Text 11"/>
          <p:cNvSpPr/>
          <p:nvPr/>
        </p:nvSpPr>
        <p:spPr>
          <a:xfrm>
            <a:off x="742950" y="3771900"/>
            <a:ext cx="2190750" cy="514350"/>
          </a:xfrm>
          <a:prstGeom prst="rect">
            <a:avLst/>
          </a:prstGeom>
          <a:noFill/>
          <a:ln/>
        </p:spPr>
        <p:txBody>
          <a:bodyPr wrap="square" lIns="0" tIns="0" rIns="0" bIns="0" rtlCol="0" anchor="t"/>
          <a:lstStyle/>
          <a:p>
            <a:pPr indent="0" marL="0">
              <a:buNone/>
            </a:pPr>
            <a:r>
              <a:rPr lang="en-US" sz="1500" dirty="0">
                <a:solidFill>
                  <a:srgbClr val="142E28"/>
                </a:solidFill>
                <a:latin typeface="Noto Sans KR" pitchFamily="34" charset="0"/>
                <a:ea typeface="Noto Sans KR" pitchFamily="34" charset="-122"/>
                <a:cs typeface="Noto Sans KR" pitchFamily="34" charset="-120"/>
              </a:rPr>
              <a:t>신원 proof 검증</a:t>
            </a:r>
            <a:endParaRPr lang="en-US" sz="1500" dirty="0"/>
          </a:p>
        </p:txBody>
      </p:sp>
      <p:sp>
        <p:nvSpPr>
          <p:cNvPr id="14" name="Text 12"/>
          <p:cNvSpPr/>
          <p:nvPr/>
        </p:nvSpPr>
        <p:spPr>
          <a:xfrm>
            <a:off x="742950" y="4352925"/>
            <a:ext cx="2190750" cy="304800"/>
          </a:xfrm>
          <a:prstGeom prst="rect">
            <a:avLst/>
          </a:prstGeom>
          <a:noFill/>
          <a:ln/>
        </p:spPr>
        <p:txBody>
          <a:bodyPr wrap="square" lIns="0" tIns="0" rIns="0" bIns="0" rtlCol="0" anchor="t"/>
          <a:lstStyle/>
          <a:p>
            <a:pPr indent="0" marL="0">
              <a:buNone/>
            </a:pPr>
            <a:r>
              <a:rPr lang="en-US" sz="1125" dirty="0">
                <a:solidFill>
                  <a:srgbClr val="62736D"/>
                </a:solidFill>
                <a:latin typeface="Noto Sans KR" pitchFamily="34" charset="0"/>
                <a:ea typeface="Noto Sans KR" pitchFamily="34" charset="-122"/>
                <a:cs typeface="Noto Sans KR" pitchFamily="34" charset="-120"/>
              </a:rPr>
              <a:t>합성 테스트 발급자</a:t>
            </a:r>
            <a:endParaRPr lang="en-US" sz="1125" dirty="0"/>
          </a:p>
        </p:txBody>
      </p:sp>
      <p:sp>
        <p:nvSpPr>
          <p:cNvPr id="15" name="Shape 13"/>
          <p:cNvSpPr/>
          <p:nvPr/>
        </p:nvSpPr>
        <p:spPr>
          <a:xfrm>
            <a:off x="3371850" y="2476500"/>
            <a:ext cx="2609850" cy="2286000"/>
          </a:xfrm>
          <a:prstGeom prst="rect">
            <a:avLst/>
          </a:prstGeom>
          <a:solidFill>
            <a:srgbClr val="FFFFFF"/>
          </a:solidFill>
          <a:ln w="10160">
            <a:solidFill>
              <a:srgbClr val="DCE5DF"/>
            </a:solidFill>
            <a:prstDash val="solid"/>
          </a:ln>
        </p:spPr>
      </p:sp>
      <p:sp>
        <p:nvSpPr>
          <p:cNvPr id="16" name="Text 14"/>
          <p:cNvSpPr/>
          <p:nvPr/>
        </p:nvSpPr>
        <p:spPr>
          <a:xfrm>
            <a:off x="3581400" y="2676525"/>
            <a:ext cx="2190750" cy="333375"/>
          </a:xfrm>
          <a:prstGeom prst="rect">
            <a:avLst/>
          </a:prstGeom>
          <a:noFill/>
          <a:ln/>
        </p:spPr>
        <p:txBody>
          <a:bodyPr wrap="square" lIns="0" tIns="0" rIns="0" bIns="0" rtlCol="0" anchor="t"/>
          <a:lstStyle/>
          <a:p>
            <a:pPr indent="0" marL="0">
              <a:buNone/>
            </a:pPr>
            <a:r>
              <a:rPr lang="en-US" sz="1500" dirty="0">
                <a:solidFill>
                  <a:srgbClr val="62736D"/>
                </a:solidFill>
                <a:latin typeface="Noto Sans KR" pitchFamily="34" charset="0"/>
                <a:ea typeface="Noto Sans KR" pitchFamily="34" charset="-122"/>
                <a:cs typeface="Noto Sans KR" pitchFamily="34" charset="-120"/>
              </a:rPr>
              <a:t>02</a:t>
            </a:r>
            <a:endParaRPr lang="en-US" sz="1500" dirty="0"/>
          </a:p>
        </p:txBody>
      </p:sp>
      <p:sp>
        <p:nvSpPr>
          <p:cNvPr id="17" name="Text 15"/>
          <p:cNvSpPr/>
          <p:nvPr/>
        </p:nvSpPr>
        <p:spPr>
          <a:xfrm>
            <a:off x="3581400" y="3181350"/>
            <a:ext cx="2190750" cy="400050"/>
          </a:xfrm>
          <a:prstGeom prst="rect">
            <a:avLst/>
          </a:prstGeom>
          <a:noFill/>
          <a:ln/>
        </p:spPr>
        <p:txBody>
          <a:bodyPr wrap="square" lIns="0" tIns="0" rIns="0" bIns="0" rtlCol="0" anchor="t"/>
          <a:lstStyle/>
          <a:p>
            <a:pPr indent="0" marL="0">
              <a:buNone/>
            </a:pPr>
            <a:r>
              <a:rPr lang="en-US" sz="1875" b="1" dirty="0">
                <a:solidFill>
                  <a:srgbClr val="174B3C"/>
                </a:solidFill>
                <a:latin typeface="Noto Sans KR" pitchFamily="34" charset="0"/>
                <a:ea typeface="Noto Sans KR" pitchFamily="34" charset="-122"/>
                <a:cs typeface="Noto Sans KR" pitchFamily="34" charset="-120"/>
              </a:rPr>
              <a:t>XRPL Testnet</a:t>
            </a:r>
            <a:endParaRPr lang="en-US" sz="1875" dirty="0"/>
          </a:p>
        </p:txBody>
      </p:sp>
      <p:sp>
        <p:nvSpPr>
          <p:cNvPr id="18" name="Text 16"/>
          <p:cNvSpPr/>
          <p:nvPr/>
        </p:nvSpPr>
        <p:spPr>
          <a:xfrm>
            <a:off x="3581400" y="3771900"/>
            <a:ext cx="2190750" cy="514350"/>
          </a:xfrm>
          <a:prstGeom prst="rect">
            <a:avLst/>
          </a:prstGeom>
          <a:noFill/>
          <a:ln/>
        </p:spPr>
        <p:txBody>
          <a:bodyPr wrap="square" lIns="0" tIns="0" rIns="0" bIns="0" rtlCol="0" anchor="t"/>
          <a:lstStyle/>
          <a:p>
            <a:pPr indent="0" marL="0">
              <a:buNone/>
            </a:pPr>
            <a:r>
              <a:rPr lang="en-US" sz="1500" dirty="0">
                <a:solidFill>
                  <a:srgbClr val="142E28"/>
                </a:solidFill>
                <a:latin typeface="Noto Sans KR" pitchFamily="34" charset="0"/>
                <a:ea typeface="Noto Sans KR" pitchFamily="34" charset="-122"/>
                <a:cs typeface="Noto Sans KR" pitchFamily="34" charset="-120"/>
              </a:rPr>
              <a:t>자격 create / accept / delete</a:t>
            </a:r>
            <a:endParaRPr lang="en-US" sz="1500" dirty="0"/>
          </a:p>
        </p:txBody>
      </p:sp>
      <p:sp>
        <p:nvSpPr>
          <p:cNvPr id="19" name="Text 17"/>
          <p:cNvSpPr/>
          <p:nvPr/>
        </p:nvSpPr>
        <p:spPr>
          <a:xfrm>
            <a:off x="3581400" y="4352925"/>
            <a:ext cx="2190750" cy="304800"/>
          </a:xfrm>
          <a:prstGeom prst="rect">
            <a:avLst/>
          </a:prstGeom>
          <a:noFill/>
          <a:ln/>
        </p:spPr>
        <p:txBody>
          <a:bodyPr wrap="square" lIns="0" tIns="0" rIns="0" bIns="0" rtlCol="0" anchor="t"/>
          <a:lstStyle/>
          <a:p>
            <a:pPr indent="0" marL="0">
              <a:buNone/>
            </a:pPr>
            <a:r>
              <a:rPr lang="en-US" sz="1125" dirty="0">
                <a:solidFill>
                  <a:srgbClr val="62736D"/>
                </a:solidFill>
                <a:latin typeface="Noto Sans KR" pitchFamily="34" charset="0"/>
                <a:ea typeface="Noto Sans KR" pitchFamily="34" charset="-122"/>
                <a:cs typeface="Noto Sans KR" pitchFamily="34" charset="-120"/>
              </a:rPr>
              <a:t>trusted observer</a:t>
            </a:r>
            <a:endParaRPr lang="en-US" sz="1125" dirty="0"/>
          </a:p>
        </p:txBody>
      </p:sp>
      <p:sp>
        <p:nvSpPr>
          <p:cNvPr id="20" name="Shape 18"/>
          <p:cNvSpPr/>
          <p:nvPr/>
        </p:nvSpPr>
        <p:spPr>
          <a:xfrm>
            <a:off x="6210300" y="2476500"/>
            <a:ext cx="2609850" cy="2286000"/>
          </a:xfrm>
          <a:prstGeom prst="rect">
            <a:avLst/>
          </a:prstGeom>
          <a:solidFill>
            <a:srgbClr val="FFFFFF"/>
          </a:solidFill>
          <a:ln w="10160">
            <a:solidFill>
              <a:srgbClr val="DCE5DF"/>
            </a:solidFill>
            <a:prstDash val="solid"/>
          </a:ln>
        </p:spPr>
      </p:sp>
      <p:sp>
        <p:nvSpPr>
          <p:cNvPr id="21" name="Text 19"/>
          <p:cNvSpPr/>
          <p:nvPr/>
        </p:nvSpPr>
        <p:spPr>
          <a:xfrm>
            <a:off x="6419850" y="2676525"/>
            <a:ext cx="2190750" cy="333375"/>
          </a:xfrm>
          <a:prstGeom prst="rect">
            <a:avLst/>
          </a:prstGeom>
          <a:noFill/>
          <a:ln/>
        </p:spPr>
        <p:txBody>
          <a:bodyPr wrap="square" lIns="0" tIns="0" rIns="0" bIns="0" rtlCol="0" anchor="t"/>
          <a:lstStyle/>
          <a:p>
            <a:pPr indent="0" marL="0">
              <a:buNone/>
            </a:pPr>
            <a:r>
              <a:rPr lang="en-US" sz="1500" dirty="0">
                <a:solidFill>
                  <a:srgbClr val="62736D"/>
                </a:solidFill>
                <a:latin typeface="Noto Sans KR" pitchFamily="34" charset="0"/>
                <a:ea typeface="Noto Sans KR" pitchFamily="34" charset="-122"/>
                <a:cs typeface="Noto Sans KR" pitchFamily="34" charset="-120"/>
              </a:rPr>
              <a:t>03</a:t>
            </a:r>
            <a:endParaRPr lang="en-US" sz="1500" dirty="0"/>
          </a:p>
        </p:txBody>
      </p:sp>
      <p:sp>
        <p:nvSpPr>
          <p:cNvPr id="22" name="Text 20"/>
          <p:cNvSpPr/>
          <p:nvPr/>
        </p:nvSpPr>
        <p:spPr>
          <a:xfrm>
            <a:off x="6419850" y="3181350"/>
            <a:ext cx="2190750" cy="400050"/>
          </a:xfrm>
          <a:prstGeom prst="rect">
            <a:avLst/>
          </a:prstGeom>
          <a:noFill/>
          <a:ln/>
        </p:spPr>
        <p:txBody>
          <a:bodyPr wrap="square" lIns="0" tIns="0" rIns="0" bIns="0" rtlCol="0" anchor="t"/>
          <a:lstStyle/>
          <a:p>
            <a:pPr indent="0" marL="0">
              <a:buNone/>
            </a:pPr>
            <a:r>
              <a:rPr lang="en-US" sz="1875" b="1" dirty="0">
                <a:solidFill>
                  <a:srgbClr val="174B3C"/>
                </a:solidFill>
                <a:latin typeface="Noto Sans KR" pitchFamily="34" charset="0"/>
                <a:ea typeface="Noto Sans KR" pitchFamily="34" charset="-122"/>
                <a:cs typeface="Noto Sans KR" pitchFamily="34" charset="-120"/>
              </a:rPr>
              <a:t>Midnight Preprod</a:t>
            </a:r>
            <a:endParaRPr lang="en-US" sz="1875" dirty="0"/>
          </a:p>
        </p:txBody>
      </p:sp>
      <p:sp>
        <p:nvSpPr>
          <p:cNvPr id="23" name="Text 21"/>
          <p:cNvSpPr/>
          <p:nvPr/>
        </p:nvSpPr>
        <p:spPr>
          <a:xfrm>
            <a:off x="6419850" y="3771900"/>
            <a:ext cx="2190750" cy="514350"/>
          </a:xfrm>
          <a:prstGeom prst="rect">
            <a:avLst/>
          </a:prstGeom>
          <a:noFill/>
          <a:ln/>
        </p:spPr>
        <p:txBody>
          <a:bodyPr wrap="square" lIns="0" tIns="0" rIns="0" bIns="0" rtlCol="0" anchor="t"/>
          <a:lstStyle/>
          <a:p>
            <a:pPr indent="0" marL="0">
              <a:buNone/>
            </a:pPr>
            <a:r>
              <a:rPr lang="en-US" sz="1500" dirty="0">
                <a:solidFill>
                  <a:srgbClr val="142E28"/>
                </a:solidFill>
                <a:latin typeface="Noto Sans KR" pitchFamily="34" charset="0"/>
                <a:ea typeface="Noto Sans KR" pitchFamily="34" charset="-122"/>
                <a:cs typeface="Noto Sans KR" pitchFamily="34" charset="-120"/>
              </a:rPr>
              <a:t>비공개 정책 증명</a:t>
            </a:r>
            <a:endParaRPr lang="en-US" sz="1500" dirty="0"/>
          </a:p>
        </p:txBody>
      </p:sp>
      <p:sp>
        <p:nvSpPr>
          <p:cNvPr id="24" name="Text 22"/>
          <p:cNvSpPr/>
          <p:nvPr/>
        </p:nvSpPr>
        <p:spPr>
          <a:xfrm>
            <a:off x="6419850" y="4352925"/>
            <a:ext cx="2190750" cy="304800"/>
          </a:xfrm>
          <a:prstGeom prst="rect">
            <a:avLst/>
          </a:prstGeom>
          <a:noFill/>
          <a:ln/>
        </p:spPr>
        <p:txBody>
          <a:bodyPr wrap="square" lIns="0" tIns="0" rIns="0" bIns="0" rtlCol="0" anchor="t"/>
          <a:lstStyle/>
          <a:p>
            <a:pPr indent="0" marL="0">
              <a:buNone/>
            </a:pPr>
            <a:r>
              <a:rPr lang="en-US" sz="1125" dirty="0">
                <a:solidFill>
                  <a:srgbClr val="62736D"/>
                </a:solidFill>
                <a:latin typeface="Noto Sans KR" pitchFamily="34" charset="0"/>
                <a:ea typeface="Noto Sans KR" pitchFamily="34" charset="-122"/>
                <a:cs typeface="Noto Sans KR" pitchFamily="34" charset="-120"/>
              </a:rPr>
              <a:t>요청 commitment에 승인 결합</a:t>
            </a:r>
            <a:endParaRPr lang="en-US" sz="1125" dirty="0"/>
          </a:p>
        </p:txBody>
      </p:sp>
      <p:sp>
        <p:nvSpPr>
          <p:cNvPr id="25" name="Shape 23"/>
          <p:cNvSpPr/>
          <p:nvPr/>
        </p:nvSpPr>
        <p:spPr>
          <a:xfrm>
            <a:off x="9048750" y="2476500"/>
            <a:ext cx="2609850" cy="2286000"/>
          </a:xfrm>
          <a:prstGeom prst="rect">
            <a:avLst/>
          </a:prstGeom>
          <a:solidFill>
            <a:srgbClr val="FFFFFF"/>
          </a:solidFill>
          <a:ln w="10160">
            <a:solidFill>
              <a:srgbClr val="DCE5DF"/>
            </a:solidFill>
            <a:prstDash val="solid"/>
          </a:ln>
        </p:spPr>
      </p:sp>
      <p:sp>
        <p:nvSpPr>
          <p:cNvPr id="26" name="Text 24"/>
          <p:cNvSpPr/>
          <p:nvPr/>
        </p:nvSpPr>
        <p:spPr>
          <a:xfrm>
            <a:off x="9258300" y="2676525"/>
            <a:ext cx="2190750" cy="333375"/>
          </a:xfrm>
          <a:prstGeom prst="rect">
            <a:avLst/>
          </a:prstGeom>
          <a:noFill/>
          <a:ln/>
        </p:spPr>
        <p:txBody>
          <a:bodyPr wrap="square" lIns="0" tIns="0" rIns="0" bIns="0" rtlCol="0" anchor="t"/>
          <a:lstStyle/>
          <a:p>
            <a:pPr indent="0" marL="0">
              <a:buNone/>
            </a:pPr>
            <a:r>
              <a:rPr lang="en-US" sz="1500" dirty="0">
                <a:solidFill>
                  <a:srgbClr val="62736D"/>
                </a:solidFill>
                <a:latin typeface="Noto Sans KR" pitchFamily="34" charset="0"/>
                <a:ea typeface="Noto Sans KR" pitchFamily="34" charset="-122"/>
                <a:cs typeface="Noto Sans KR" pitchFamily="34" charset="-120"/>
              </a:rPr>
              <a:t>04</a:t>
            </a:r>
            <a:endParaRPr lang="en-US" sz="1500" dirty="0"/>
          </a:p>
        </p:txBody>
      </p:sp>
      <p:sp>
        <p:nvSpPr>
          <p:cNvPr id="27" name="Text 25"/>
          <p:cNvSpPr/>
          <p:nvPr/>
        </p:nvSpPr>
        <p:spPr>
          <a:xfrm>
            <a:off x="9258300" y="3181350"/>
            <a:ext cx="2190750" cy="400050"/>
          </a:xfrm>
          <a:prstGeom prst="rect">
            <a:avLst/>
          </a:prstGeom>
          <a:noFill/>
          <a:ln/>
        </p:spPr>
        <p:txBody>
          <a:bodyPr wrap="square" lIns="0" tIns="0" rIns="0" bIns="0" rtlCol="0" anchor="t"/>
          <a:lstStyle/>
          <a:p>
            <a:pPr indent="0" marL="0">
              <a:buNone/>
            </a:pPr>
            <a:r>
              <a:rPr lang="en-US" sz="1875" b="1" dirty="0">
                <a:solidFill>
                  <a:srgbClr val="174B3C"/>
                </a:solidFill>
                <a:latin typeface="Noto Sans KR" pitchFamily="34" charset="0"/>
                <a:ea typeface="Noto Sans KR" pitchFamily="34" charset="-122"/>
                <a:cs typeface="Noto Sans KR" pitchFamily="34" charset="-120"/>
              </a:rPr>
              <a:t>Solana Devnet</a:t>
            </a:r>
            <a:endParaRPr lang="en-US" sz="1875" dirty="0"/>
          </a:p>
        </p:txBody>
      </p:sp>
      <p:sp>
        <p:nvSpPr>
          <p:cNvPr id="28" name="Text 26"/>
          <p:cNvSpPr/>
          <p:nvPr/>
        </p:nvSpPr>
        <p:spPr>
          <a:xfrm>
            <a:off x="9258300" y="3771900"/>
            <a:ext cx="2190750" cy="514350"/>
          </a:xfrm>
          <a:prstGeom prst="rect">
            <a:avLst/>
          </a:prstGeom>
          <a:noFill/>
          <a:ln/>
        </p:spPr>
        <p:txBody>
          <a:bodyPr wrap="square" lIns="0" tIns="0" rIns="0" bIns="0" rtlCol="0" anchor="t"/>
          <a:lstStyle/>
          <a:p>
            <a:pPr indent="0" marL="0">
              <a:buNone/>
            </a:pPr>
            <a:r>
              <a:rPr lang="en-US" sz="1500" dirty="0">
                <a:solidFill>
                  <a:srgbClr val="142E28"/>
                </a:solidFill>
                <a:latin typeface="Noto Sans KR" pitchFamily="34" charset="0"/>
                <a:ea typeface="Noto Sans KR" pitchFamily="34" charset="-122"/>
                <a:cs typeface="Noto Sans KR" pitchFamily="34" charset="-120"/>
              </a:rPr>
              <a:t>실행 시 상태 재검사</a:t>
            </a:r>
            <a:endParaRPr lang="en-US" sz="1500" dirty="0"/>
          </a:p>
        </p:txBody>
      </p:sp>
      <p:sp>
        <p:nvSpPr>
          <p:cNvPr id="29" name="Text 27"/>
          <p:cNvSpPr/>
          <p:nvPr/>
        </p:nvSpPr>
        <p:spPr>
          <a:xfrm>
            <a:off x="9258300" y="4352925"/>
            <a:ext cx="2190750" cy="304800"/>
          </a:xfrm>
          <a:prstGeom prst="rect">
            <a:avLst/>
          </a:prstGeom>
          <a:noFill/>
          <a:ln/>
        </p:spPr>
        <p:txBody>
          <a:bodyPr wrap="square" lIns="0" tIns="0" rIns="0" bIns="0" rtlCol="0" anchor="t"/>
          <a:lstStyle/>
          <a:p>
            <a:pPr indent="0" marL="0">
              <a:buNone/>
            </a:pPr>
            <a:r>
              <a:rPr lang="en-US" sz="1125" dirty="0">
                <a:solidFill>
                  <a:srgbClr val="62736D"/>
                </a:solidFill>
                <a:latin typeface="Noto Sans KR" pitchFamily="34" charset="0"/>
                <a:ea typeface="Noto Sans KR" pitchFamily="34" charset="-122"/>
                <a:cs typeface="Noto Sans KR" pitchFamily="34" charset="-120"/>
              </a:rPr>
              <a:t>요청 hash · 만료 · 미소비</a:t>
            </a:r>
            <a:endParaRPr lang="en-US" sz="1125" dirty="0"/>
          </a:p>
        </p:txBody>
      </p:sp>
      <p:sp>
        <p:nvSpPr>
          <p:cNvPr id="30" name="Shape 28"/>
          <p:cNvSpPr/>
          <p:nvPr/>
        </p:nvSpPr>
        <p:spPr>
          <a:xfrm>
            <a:off x="533400" y="5076825"/>
            <a:ext cx="11125200" cy="942975"/>
          </a:xfrm>
          <a:prstGeom prst="rect">
            <a:avLst/>
          </a:prstGeom>
          <a:solidFill>
            <a:srgbClr val="174B3C"/>
          </a:solidFill>
          <a:ln w="10160">
            <a:solidFill>
              <a:srgbClr val="174B3C"/>
            </a:solidFill>
            <a:prstDash val="solid"/>
          </a:ln>
        </p:spPr>
      </p:sp>
      <p:sp>
        <p:nvSpPr>
          <p:cNvPr id="31" name="Text 29"/>
          <p:cNvSpPr/>
          <p:nvPr/>
        </p:nvSpPr>
        <p:spPr>
          <a:xfrm>
            <a:off x="762000" y="5257800"/>
            <a:ext cx="10668000" cy="323850"/>
          </a:xfrm>
          <a:prstGeom prst="rect">
            <a:avLst/>
          </a:prstGeom>
          <a:noFill/>
          <a:ln/>
        </p:spPr>
        <p:txBody>
          <a:bodyPr wrap="square" lIns="0" tIns="0" rIns="0" bIns="0" rtlCol="0" anchor="t"/>
          <a:lstStyle/>
          <a:p>
            <a:pPr indent="0" marL="0">
              <a:buNone/>
            </a:pPr>
            <a:r>
              <a:rPr lang="en-US" sz="1950" b="1" dirty="0">
                <a:solidFill>
                  <a:srgbClr val="FFFFFF"/>
                </a:solidFill>
                <a:latin typeface="Noto Sans KR" pitchFamily="34" charset="0"/>
                <a:ea typeface="Noto Sans KR" pitchFamily="34" charset="-122"/>
                <a:cs typeface="Noto Sans KR" pitchFamily="34" charset="-120"/>
              </a:rPr>
              <a:t>Trusted adapters / time → Midnight → trusted relay → Solana</a:t>
            </a:r>
            <a:endParaRPr lang="en-US" sz="1950" dirty="0"/>
          </a:p>
        </p:txBody>
      </p:sp>
      <p:sp>
        <p:nvSpPr>
          <p:cNvPr id="32" name="Text 30"/>
          <p:cNvSpPr/>
          <p:nvPr/>
        </p:nvSpPr>
        <p:spPr>
          <a:xfrm>
            <a:off x="762000" y="5686425"/>
            <a:ext cx="10668000" cy="257175"/>
          </a:xfrm>
          <a:prstGeom prst="rect">
            <a:avLst/>
          </a:prstGeom>
          <a:noFill/>
          <a:ln/>
        </p:spPr>
        <p:txBody>
          <a:bodyPr wrap="square" lIns="0" tIns="0" rIns="0" bIns="0" rtlCol="0" anchor="t"/>
          <a:lstStyle/>
          <a:p>
            <a:pPr indent="0" marL="0">
              <a:buNone/>
            </a:pPr>
            <a:r>
              <a:rPr lang="en-US" sz="1425" dirty="0">
                <a:solidFill>
                  <a:srgbClr val="D3E4DB"/>
                </a:solidFill>
                <a:latin typeface="Noto Sans KR" pitchFamily="34" charset="0"/>
                <a:ea typeface="Noto Sans KR" pitchFamily="34" charset="-122"/>
                <a:cs typeface="Noto Sans KR" pitchFamily="34" charset="-120"/>
              </a:rPr>
              <a:t>Solana는 Midnight proof나 XRPL 합의를 직접 검증하지 않습니다.</a:t>
            </a:r>
            <a:endParaRPr lang="en-US" sz="14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533400" y="333375"/>
            <a:ext cx="266700" cy="38100"/>
          </a:xfrm>
          <a:prstGeom prst="rect">
            <a:avLst/>
          </a:prstGeom>
          <a:solidFill>
            <a:srgbClr val="174B3C"/>
          </a:solidFill>
          <a:ln w="10160">
            <a:solidFill>
              <a:srgbClr val="174B3C"/>
            </a:solidFill>
            <a:prstDash val="solid"/>
          </a:ln>
        </p:spPr>
      </p:sp>
      <p:sp>
        <p:nvSpPr>
          <p:cNvPr id="3" name="Text 1"/>
          <p:cNvSpPr/>
          <p:nvPr/>
        </p:nvSpPr>
        <p:spPr>
          <a:xfrm>
            <a:off x="952500" y="238125"/>
            <a:ext cx="9334500" cy="285750"/>
          </a:xfrm>
          <a:prstGeom prst="rect">
            <a:avLst/>
          </a:prstGeom>
          <a:noFill/>
          <a:ln/>
        </p:spPr>
        <p:txBody>
          <a:bodyPr wrap="square" lIns="0" tIns="0" rIns="0" bIns="0" rtlCol="0" anchor="t"/>
          <a:lstStyle/>
          <a:p>
            <a:pPr indent="0" marL="0">
              <a:buNone/>
            </a:pPr>
            <a:r>
              <a:rPr lang="en-US" sz="975" b="1" dirty="0">
                <a:solidFill>
                  <a:srgbClr val="174B3C"/>
                </a:solidFill>
                <a:latin typeface="Noto Sans KR" pitchFamily="34" charset="0"/>
                <a:ea typeface="Noto Sans KR" pitchFamily="34" charset="-122"/>
                <a:cs typeface="Noto Sans KR" pitchFamily="34" charset="-120"/>
              </a:rPr>
              <a:t>03 / ACTUAL PAYMENT</a:t>
            </a:r>
            <a:endParaRPr lang="en-US" sz="975" dirty="0"/>
          </a:p>
        </p:txBody>
      </p:sp>
      <p:sp>
        <p:nvSpPr>
          <p:cNvPr id="4" name="Text 2"/>
          <p:cNvSpPr/>
          <p:nvPr/>
        </p:nvSpPr>
        <p:spPr>
          <a:xfrm>
            <a:off x="10477500" y="219075"/>
            <a:ext cx="1238250" cy="333375"/>
          </a:xfrm>
          <a:prstGeom prst="rect">
            <a:avLst/>
          </a:prstGeom>
          <a:noFill/>
          <a:ln/>
        </p:spPr>
        <p:txBody>
          <a:bodyPr wrap="square" lIns="0" tIns="0" rIns="0" bIns="0" rtlCol="0" anchor="t"/>
          <a:lstStyle/>
          <a:p>
            <a:pPr indent="0" marL="0">
              <a:buNone/>
            </a:pPr>
            <a:r>
              <a:rPr lang="en-US" sz="1350" b="1" dirty="0">
                <a:solidFill>
                  <a:srgbClr val="174B3C"/>
                </a:solidFill>
                <a:latin typeface="Noto Sans KR" pitchFamily="34" charset="0"/>
                <a:ea typeface="Noto Sans KR" pitchFamily="34" charset="-122"/>
                <a:cs typeface="Noto Sans KR" pitchFamily="34" charset="-120"/>
              </a:rPr>
              <a:t>ProofPass</a:t>
            </a:r>
            <a:endParaRPr lang="en-US" sz="1350" dirty="0"/>
          </a:p>
        </p:txBody>
      </p:sp>
      <p:sp>
        <p:nvSpPr>
          <p:cNvPr id="5" name="Text 3"/>
          <p:cNvSpPr/>
          <p:nvPr/>
        </p:nvSpPr>
        <p:spPr>
          <a:xfrm>
            <a:off x="533400" y="866775"/>
            <a:ext cx="11144250" cy="714375"/>
          </a:xfrm>
          <a:prstGeom prst="rect">
            <a:avLst/>
          </a:prstGeom>
          <a:noFill/>
          <a:ln/>
        </p:spPr>
        <p:txBody>
          <a:bodyPr wrap="square" lIns="0" tIns="0" rIns="0" bIns="0" rtlCol="0" anchor="t"/>
          <a:lstStyle/>
          <a:p>
            <a:pPr indent="0" marL="0">
              <a:buNone/>
            </a:pPr>
            <a:r>
              <a:rPr lang="en-US" sz="3300" b="1" dirty="0">
                <a:solidFill>
                  <a:srgbClr val="142E28"/>
                </a:solidFill>
                <a:latin typeface="Noto Sans KR" pitchFamily="34" charset="0"/>
                <a:ea typeface="Noto Sans KR" pitchFamily="34" charset="-122"/>
                <a:cs typeface="Noto Sans KR" pitchFamily="34" charset="-120"/>
              </a:rPr>
              <a:t>승인이 0.05 SOL 지급으로</a:t>
            </a:r>
            <a:endParaRPr lang="en-US" sz="3300" dirty="0"/>
          </a:p>
        </p:txBody>
      </p:sp>
      <p:sp>
        <p:nvSpPr>
          <p:cNvPr id="6" name="Text 4"/>
          <p:cNvSpPr/>
          <p:nvPr/>
        </p:nvSpPr>
        <p:spPr>
          <a:xfrm>
            <a:off x="533400" y="1609725"/>
            <a:ext cx="11144250" cy="476250"/>
          </a:xfrm>
          <a:prstGeom prst="rect">
            <a:avLst/>
          </a:prstGeom>
          <a:noFill/>
          <a:ln/>
        </p:spPr>
        <p:txBody>
          <a:bodyPr wrap="square" lIns="0" tIns="0" rIns="0" bIns="0" rtlCol="0" anchor="t"/>
          <a:lstStyle/>
          <a:p>
            <a:pPr indent="0" marL="0">
              <a:buNone/>
            </a:pPr>
            <a:r>
              <a:rPr lang="en-US" sz="1650" dirty="0">
                <a:solidFill>
                  <a:srgbClr val="62736D"/>
                </a:solidFill>
                <a:latin typeface="Noto Sans KR" pitchFamily="34" charset="0"/>
                <a:ea typeface="Noto Sans KR" pitchFamily="34" charset="-122"/>
                <a:cs typeface="Noto Sans KR" pitchFamily="34" charset="-120"/>
              </a:rPr>
              <a:t>50,000,000 lamports moved · Solana Devnet</a:t>
            </a:r>
            <a:endParaRPr lang="en-US" sz="1650" dirty="0"/>
          </a:p>
        </p:txBody>
      </p:sp>
      <p:sp>
        <p:nvSpPr>
          <p:cNvPr id="7" name="Shape 5"/>
          <p:cNvSpPr/>
          <p:nvPr/>
        </p:nvSpPr>
        <p:spPr>
          <a:xfrm>
            <a:off x="533400" y="6334125"/>
            <a:ext cx="11125200" cy="9525"/>
          </a:xfrm>
          <a:prstGeom prst="rect">
            <a:avLst/>
          </a:prstGeom>
          <a:solidFill>
            <a:srgbClr val="DCE5DF"/>
          </a:solidFill>
          <a:ln w="10160">
            <a:solidFill>
              <a:srgbClr val="DCE5DF"/>
            </a:solidFill>
            <a:prstDash val="solid"/>
          </a:ln>
        </p:spPr>
      </p:sp>
      <p:sp>
        <p:nvSpPr>
          <p:cNvPr id="8" name="Text 6"/>
          <p:cNvSpPr/>
          <p:nvPr/>
        </p:nvSpPr>
        <p:spPr>
          <a:xfrm>
            <a:off x="533400" y="6496050"/>
            <a:ext cx="10096500" cy="219075"/>
          </a:xfrm>
          <a:prstGeom prst="rect">
            <a:avLst/>
          </a:prstGeom>
          <a:noFill/>
          <a:ln/>
        </p:spPr>
        <p:txBody>
          <a:bodyPr wrap="square" lIns="0" tIns="0" rIns="0" bIns="0" rtlCol="0" anchor="t"/>
          <a:lstStyle/>
          <a:p>
            <a:pPr indent="0" marL="0">
              <a:buNone/>
            </a:pPr>
            <a:r>
              <a:rPr lang="en-US" sz="900" dirty="0">
                <a:solidFill>
                  <a:srgbClr val="62736D"/>
                </a:solidFill>
                <a:latin typeface="Noto Sans KR" pitchFamily="34" charset="0"/>
                <a:ea typeface="Noto Sans KR" pitchFamily="34" charset="-122"/>
                <a:cs typeface="Noto Sans KR" pitchFamily="34" charset="-120"/>
              </a:rPr>
              <a:t>Stored testnet run 2026-09-21  ·  Hackathon reference implementation</a:t>
            </a:r>
            <a:endParaRPr lang="en-US" sz="900" dirty="0"/>
          </a:p>
        </p:txBody>
      </p:sp>
      <p:sp>
        <p:nvSpPr>
          <p:cNvPr id="9" name="Text 7"/>
          <p:cNvSpPr/>
          <p:nvPr/>
        </p:nvSpPr>
        <p:spPr>
          <a:xfrm>
            <a:off x="10858500" y="6496050"/>
            <a:ext cx="857250" cy="219075"/>
          </a:xfrm>
          <a:prstGeom prst="rect">
            <a:avLst/>
          </a:prstGeom>
          <a:noFill/>
          <a:ln/>
        </p:spPr>
        <p:txBody>
          <a:bodyPr wrap="square" lIns="0" tIns="0" rIns="0" bIns="0" rtlCol="0" anchor="t"/>
          <a:lstStyle/>
          <a:p>
            <a:pPr indent="0" marL="0">
              <a:buNone/>
            </a:pPr>
            <a:r>
              <a:rPr lang="en-US" sz="900" b="1" dirty="0">
                <a:solidFill>
                  <a:srgbClr val="62736D"/>
                </a:solidFill>
                <a:latin typeface="Noto Sans KR" pitchFamily="34" charset="0"/>
                <a:ea typeface="Noto Sans KR" pitchFamily="34" charset="-122"/>
                <a:cs typeface="Noto Sans KR" pitchFamily="34" charset="-120"/>
              </a:rPr>
              <a:t>04 / 07</a:t>
            </a:r>
            <a:endParaRPr lang="en-US" sz="900" dirty="0"/>
          </a:p>
        </p:txBody>
      </p:sp>
      <p:sp>
        <p:nvSpPr>
          <p:cNvPr id="10" name="Text 8"/>
          <p:cNvSpPr/>
          <p:nvPr/>
        </p:nvSpPr>
        <p:spPr>
          <a:xfrm>
            <a:off x="533400" y="2400300"/>
            <a:ext cx="6762750" cy="333375"/>
          </a:xfrm>
          <a:prstGeom prst="rect">
            <a:avLst/>
          </a:prstGeom>
          <a:noFill/>
          <a:ln/>
        </p:spPr>
        <p:txBody>
          <a:bodyPr wrap="square" lIns="0" tIns="0" rIns="0" bIns="0" rtlCol="0" anchor="t"/>
          <a:lstStyle/>
          <a:p>
            <a:pPr indent="0" marL="0">
              <a:buNone/>
            </a:pPr>
            <a:r>
              <a:rPr lang="en-US" sz="1200" b="1" dirty="0">
                <a:solidFill>
                  <a:srgbClr val="174B3C"/>
                </a:solidFill>
                <a:latin typeface="Noto Sans KR" pitchFamily="34" charset="0"/>
                <a:ea typeface="Noto Sans KR" pitchFamily="34" charset="-122"/>
                <a:cs typeface="Noto Sans KR" pitchFamily="34" charset="-120"/>
              </a:rPr>
              <a:t>FINALIZED PAYMENT</a:t>
            </a:r>
            <a:endParaRPr lang="en-US" sz="1200" dirty="0"/>
          </a:p>
        </p:txBody>
      </p:sp>
      <p:sp>
        <p:nvSpPr>
          <p:cNvPr id="11" name="Text 9"/>
          <p:cNvSpPr/>
          <p:nvPr/>
        </p:nvSpPr>
        <p:spPr>
          <a:xfrm>
            <a:off x="466725" y="2800350"/>
            <a:ext cx="5143500" cy="1485900"/>
          </a:xfrm>
          <a:prstGeom prst="rect">
            <a:avLst/>
          </a:prstGeom>
          <a:noFill/>
          <a:ln/>
        </p:spPr>
        <p:txBody>
          <a:bodyPr wrap="square" lIns="0" tIns="0" rIns="0" bIns="0" rtlCol="0" anchor="t"/>
          <a:lstStyle/>
          <a:p>
            <a:pPr indent="0" marL="0">
              <a:buNone/>
            </a:pPr>
            <a:r>
              <a:rPr lang="en-US" sz="8550" b="1" dirty="0">
                <a:solidFill>
                  <a:srgbClr val="174B3C"/>
                </a:solidFill>
                <a:latin typeface="Noto Sans KR" pitchFamily="34" charset="0"/>
                <a:ea typeface="Noto Sans KR" pitchFamily="34" charset="-122"/>
                <a:cs typeface="Noto Sans KR" pitchFamily="34" charset="-120"/>
              </a:rPr>
              <a:t>0.05</a:t>
            </a:r>
            <a:endParaRPr lang="en-US" sz="8550" dirty="0"/>
          </a:p>
        </p:txBody>
      </p:sp>
      <p:sp>
        <p:nvSpPr>
          <p:cNvPr id="12" name="Text 10"/>
          <p:cNvSpPr/>
          <p:nvPr/>
        </p:nvSpPr>
        <p:spPr>
          <a:xfrm>
            <a:off x="4133850" y="3524250"/>
            <a:ext cx="2667000" cy="647700"/>
          </a:xfrm>
          <a:prstGeom prst="rect">
            <a:avLst/>
          </a:prstGeom>
          <a:noFill/>
          <a:ln/>
        </p:spPr>
        <p:txBody>
          <a:bodyPr wrap="square" lIns="0" tIns="0" rIns="0" bIns="0" rtlCol="0" anchor="t"/>
          <a:lstStyle/>
          <a:p>
            <a:pPr indent="0" marL="0">
              <a:buNone/>
            </a:pPr>
            <a:r>
              <a:rPr lang="en-US" sz="3600" b="1" dirty="0">
                <a:solidFill>
                  <a:srgbClr val="174B3C"/>
                </a:solidFill>
                <a:latin typeface="Noto Sans KR" pitchFamily="34" charset="0"/>
                <a:ea typeface="Noto Sans KR" pitchFamily="34" charset="-122"/>
                <a:cs typeface="Noto Sans KR" pitchFamily="34" charset="-120"/>
              </a:rPr>
              <a:t>SOL</a:t>
            </a:r>
            <a:endParaRPr lang="en-US" sz="3600" dirty="0"/>
          </a:p>
        </p:txBody>
      </p:sp>
      <p:sp>
        <p:nvSpPr>
          <p:cNvPr id="13" name="Text 11"/>
          <p:cNvSpPr/>
          <p:nvPr/>
        </p:nvSpPr>
        <p:spPr>
          <a:xfrm>
            <a:off x="533400" y="4343400"/>
            <a:ext cx="6667500" cy="428625"/>
          </a:xfrm>
          <a:prstGeom prst="rect">
            <a:avLst/>
          </a:prstGeom>
          <a:noFill/>
          <a:ln/>
        </p:spPr>
        <p:txBody>
          <a:bodyPr wrap="square" lIns="0" tIns="0" rIns="0" bIns="0" rtlCol="0" anchor="t"/>
          <a:lstStyle/>
          <a:p>
            <a:pPr indent="0" marL="0">
              <a:buNone/>
            </a:pPr>
            <a:r>
              <a:rPr lang="en-US" sz="2175" b="1" dirty="0">
                <a:solidFill>
                  <a:srgbClr val="142E28"/>
                </a:solidFill>
                <a:latin typeface="Noto Sans KR" pitchFamily="34" charset="0"/>
                <a:ea typeface="Noto Sans KR" pitchFamily="34" charset="-122"/>
                <a:cs typeface="Noto Sans KR" pitchFamily="34" charset="-120"/>
              </a:rPr>
              <a:t>50,000,000 lamports moved</a:t>
            </a:r>
            <a:endParaRPr lang="en-US" sz="2175" dirty="0"/>
          </a:p>
        </p:txBody>
      </p:sp>
      <p:sp>
        <p:nvSpPr>
          <p:cNvPr id="14" name="Shape 12"/>
          <p:cNvSpPr/>
          <p:nvPr/>
        </p:nvSpPr>
        <p:spPr>
          <a:xfrm>
            <a:off x="533400" y="5000625"/>
            <a:ext cx="3219450" cy="581025"/>
          </a:xfrm>
          <a:prstGeom prst="rect">
            <a:avLst/>
          </a:prstGeom>
          <a:solidFill>
            <a:srgbClr val="E8F2EC"/>
          </a:solidFill>
          <a:ln w="10160">
            <a:solidFill>
              <a:srgbClr val="E8F2EC"/>
            </a:solidFill>
            <a:prstDash val="solid"/>
          </a:ln>
        </p:spPr>
      </p:sp>
      <p:sp>
        <p:nvSpPr>
          <p:cNvPr id="15" name="Shape 13"/>
          <p:cNvSpPr/>
          <p:nvPr/>
        </p:nvSpPr>
        <p:spPr>
          <a:xfrm>
            <a:off x="3905250" y="5000625"/>
            <a:ext cx="3486150" cy="581025"/>
          </a:xfrm>
          <a:prstGeom prst="rect">
            <a:avLst/>
          </a:prstGeom>
          <a:solidFill>
            <a:srgbClr val="E8F2EC"/>
          </a:solidFill>
          <a:ln w="10160">
            <a:solidFill>
              <a:srgbClr val="E8F2EC"/>
            </a:solidFill>
            <a:prstDash val="solid"/>
          </a:ln>
        </p:spPr>
      </p:sp>
      <p:sp>
        <p:nvSpPr>
          <p:cNvPr id="16" name="Text 14"/>
          <p:cNvSpPr/>
          <p:nvPr/>
        </p:nvSpPr>
        <p:spPr>
          <a:xfrm>
            <a:off x="685800" y="5162550"/>
            <a:ext cx="2952750" cy="314325"/>
          </a:xfrm>
          <a:prstGeom prst="rect">
            <a:avLst/>
          </a:prstGeom>
          <a:noFill/>
          <a:ln/>
        </p:spPr>
        <p:txBody>
          <a:bodyPr wrap="square" lIns="0" tIns="0" rIns="0" bIns="0" rtlCol="0" anchor="t"/>
          <a:lstStyle/>
          <a:p>
            <a:pPr indent="0" marL="0">
              <a:buNone/>
            </a:pPr>
            <a:r>
              <a:rPr lang="en-US" sz="1575" b="1" dirty="0">
                <a:solidFill>
                  <a:srgbClr val="174B3C"/>
                </a:solidFill>
                <a:latin typeface="Noto Sans KR" pitchFamily="34" charset="0"/>
                <a:ea typeface="Noto Sans KR" pitchFamily="34" charset="-122"/>
                <a:cs typeface="Noto Sans KR" pitchFamily="34" charset="-120"/>
              </a:rPr>
              <a:t>Vault  −50,000,000</a:t>
            </a:r>
            <a:endParaRPr lang="en-US" sz="1575" dirty="0"/>
          </a:p>
        </p:txBody>
      </p:sp>
      <p:sp>
        <p:nvSpPr>
          <p:cNvPr id="17" name="Text 15"/>
          <p:cNvSpPr/>
          <p:nvPr/>
        </p:nvSpPr>
        <p:spPr>
          <a:xfrm>
            <a:off x="4057650" y="5162550"/>
            <a:ext cx="3238500" cy="314325"/>
          </a:xfrm>
          <a:prstGeom prst="rect">
            <a:avLst/>
          </a:prstGeom>
          <a:noFill/>
          <a:ln/>
        </p:spPr>
        <p:txBody>
          <a:bodyPr wrap="square" lIns="0" tIns="0" rIns="0" bIns="0" rtlCol="0" anchor="t"/>
          <a:lstStyle/>
          <a:p>
            <a:pPr indent="0" marL="0">
              <a:buNone/>
            </a:pPr>
            <a:r>
              <a:rPr lang="en-US" sz="1575" b="1" dirty="0">
                <a:solidFill>
                  <a:srgbClr val="174B3C"/>
                </a:solidFill>
                <a:latin typeface="Noto Sans KR" pitchFamily="34" charset="0"/>
                <a:ea typeface="Noto Sans KR" pitchFamily="34" charset="-122"/>
                <a:cs typeface="Noto Sans KR" pitchFamily="34" charset="-120"/>
              </a:rPr>
              <a:t>Recipient  +50,000,000</a:t>
            </a:r>
            <a:endParaRPr lang="en-US" sz="1575" dirty="0"/>
          </a:p>
        </p:txBody>
      </p:sp>
      <p:pic>
        <p:nvPicPr>
          <p:cNvPr id="18" name="Image 0" descr="C:\Users\tnwjd\OneDrive\Desktop\project\ProofPass\artifacts\submission\slides\payment.png">    </p:cNvPr>
          <p:cNvPicPr>
            <a:picLocks noChangeAspect="1"/>
          </p:cNvPicPr>
          <p:nvPr/>
        </p:nvPicPr>
        <p:blipFill>
          <a:blip r:embed="rId1"/>
          <a:stretch>
            <a:fillRect/>
          </a:stretch>
        </p:blipFill>
        <p:spPr>
          <a:xfrm>
            <a:off x="8306685" y="2181225"/>
            <a:ext cx="2474729" cy="3924300"/>
          </a:xfrm>
          <a:prstGeom prst="rect">
            <a:avLst/>
          </a:prstGeom>
        </p:spPr>
      </p:pic>
      <p:sp>
        <p:nvSpPr>
          <p:cNvPr id="19" name="Text 16">
            <a:hlinkClick r:id="rId2" tooltip=""/>
          </p:cNvPr>
          <p:cNvSpPr/>
          <p:nvPr/>
        </p:nvSpPr>
        <p:spPr>
          <a:xfrm>
            <a:off x="533400" y="5800725"/>
            <a:ext cx="5238750" cy="295275"/>
          </a:xfrm>
          <a:prstGeom prst="rect">
            <a:avLst/>
          </a:prstGeom>
          <a:noFill/>
          <a:ln/>
        </p:spPr>
        <p:txBody>
          <a:bodyPr wrap="square" lIns="0" tIns="0" rIns="0" bIns="0" rtlCol="0" anchor="t"/>
          <a:lstStyle/>
          <a:p>
            <a:pPr indent="0" marL="0">
              <a:buNone/>
            </a:pPr>
            <a:r>
              <a:rPr lang="en-US" sz="1500" b="1" u="sng" dirty="0">
                <a:solidFill>
                  <a:srgbClr val="174B3C"/>
                </a:solidFill>
                <a:latin typeface="Noto Sans KR" pitchFamily="34" charset="0"/>
                <a:ea typeface="Noto Sans KR" pitchFamily="34" charset="-122"/>
                <a:cs typeface="Noto Sans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실제 지급 거래 확인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533400" y="333375"/>
            <a:ext cx="266700" cy="38100"/>
          </a:xfrm>
          <a:prstGeom prst="rect">
            <a:avLst/>
          </a:prstGeom>
          <a:solidFill>
            <a:srgbClr val="174B3C"/>
          </a:solidFill>
          <a:ln w="10160">
            <a:solidFill>
              <a:srgbClr val="174B3C"/>
            </a:solidFill>
            <a:prstDash val="solid"/>
          </a:ln>
        </p:spPr>
      </p:sp>
      <p:sp>
        <p:nvSpPr>
          <p:cNvPr id="3" name="Text 1"/>
          <p:cNvSpPr/>
          <p:nvPr/>
        </p:nvSpPr>
        <p:spPr>
          <a:xfrm>
            <a:off x="952500" y="238125"/>
            <a:ext cx="9334500" cy="285750"/>
          </a:xfrm>
          <a:prstGeom prst="rect">
            <a:avLst/>
          </a:prstGeom>
          <a:noFill/>
          <a:ln/>
        </p:spPr>
        <p:txBody>
          <a:bodyPr wrap="square" lIns="0" tIns="0" rIns="0" bIns="0" rtlCol="0" anchor="t"/>
          <a:lstStyle/>
          <a:p>
            <a:pPr indent="0" marL="0">
              <a:buNone/>
            </a:pPr>
            <a:r>
              <a:rPr lang="en-US" sz="975" b="1" dirty="0">
                <a:solidFill>
                  <a:srgbClr val="174B3C"/>
                </a:solidFill>
                <a:latin typeface="Noto Sans KR" pitchFamily="34" charset="0"/>
                <a:ea typeface="Noto Sans KR" pitchFamily="34" charset="-122"/>
                <a:cs typeface="Noto Sans KR" pitchFamily="34" charset="-120"/>
              </a:rPr>
              <a:t>04 / THE CRITICAL SCENE</a:t>
            </a:r>
            <a:endParaRPr lang="en-US" sz="975" dirty="0"/>
          </a:p>
        </p:txBody>
      </p:sp>
      <p:sp>
        <p:nvSpPr>
          <p:cNvPr id="4" name="Text 2"/>
          <p:cNvSpPr/>
          <p:nvPr/>
        </p:nvSpPr>
        <p:spPr>
          <a:xfrm>
            <a:off x="10477500" y="219075"/>
            <a:ext cx="1238250" cy="333375"/>
          </a:xfrm>
          <a:prstGeom prst="rect">
            <a:avLst/>
          </a:prstGeom>
          <a:noFill/>
          <a:ln/>
        </p:spPr>
        <p:txBody>
          <a:bodyPr wrap="square" lIns="0" tIns="0" rIns="0" bIns="0" rtlCol="0" anchor="t"/>
          <a:lstStyle/>
          <a:p>
            <a:pPr indent="0" marL="0">
              <a:buNone/>
            </a:pPr>
            <a:r>
              <a:rPr lang="en-US" sz="1350" b="1" dirty="0">
                <a:solidFill>
                  <a:srgbClr val="174B3C"/>
                </a:solidFill>
                <a:latin typeface="Noto Sans KR" pitchFamily="34" charset="0"/>
                <a:ea typeface="Noto Sans KR" pitchFamily="34" charset="-122"/>
                <a:cs typeface="Noto Sans KR" pitchFamily="34" charset="-120"/>
              </a:rPr>
              <a:t>ProofPass</a:t>
            </a:r>
            <a:endParaRPr lang="en-US" sz="1350" dirty="0"/>
          </a:p>
        </p:txBody>
      </p:sp>
      <p:sp>
        <p:nvSpPr>
          <p:cNvPr id="5" name="Text 3"/>
          <p:cNvSpPr/>
          <p:nvPr/>
        </p:nvSpPr>
        <p:spPr>
          <a:xfrm>
            <a:off x="533400" y="866775"/>
            <a:ext cx="11144250" cy="714375"/>
          </a:xfrm>
          <a:prstGeom prst="rect">
            <a:avLst/>
          </a:prstGeom>
          <a:noFill/>
          <a:ln/>
        </p:spPr>
        <p:txBody>
          <a:bodyPr wrap="square" lIns="0" tIns="0" rIns="0" bIns="0" rtlCol="0" anchor="t"/>
          <a:lstStyle/>
          <a:p>
            <a:pPr indent="0" marL="0">
              <a:buNone/>
            </a:pPr>
            <a:r>
              <a:rPr lang="en-US" sz="3300" b="1" dirty="0">
                <a:solidFill>
                  <a:srgbClr val="142E28"/>
                </a:solidFill>
                <a:latin typeface="Noto Sans KR" pitchFamily="34" charset="0"/>
                <a:ea typeface="Noto Sans KR" pitchFamily="34" charset="-122"/>
                <a:cs typeface="Noto Sans KR" pitchFamily="34" charset="-120"/>
              </a:rPr>
              <a:t>승인은 남아도, 권한은 없다.</a:t>
            </a:r>
            <a:endParaRPr lang="en-US" sz="3300" dirty="0"/>
          </a:p>
        </p:txBody>
      </p:sp>
      <p:sp>
        <p:nvSpPr>
          <p:cNvPr id="6" name="Text 4"/>
          <p:cNvSpPr/>
          <p:nvPr/>
        </p:nvSpPr>
        <p:spPr>
          <a:xfrm>
            <a:off x="533400" y="1609725"/>
            <a:ext cx="11144250" cy="476250"/>
          </a:xfrm>
          <a:prstGeom prst="rect">
            <a:avLst/>
          </a:prstGeom>
          <a:noFill/>
          <a:ln/>
        </p:spPr>
        <p:txBody>
          <a:bodyPr wrap="square" lIns="0" tIns="0" rIns="0" bIns="0" rtlCol="0" anchor="t"/>
          <a:lstStyle/>
          <a:p>
            <a:pPr indent="0" marL="0">
              <a:buNone/>
            </a:pPr>
            <a:r>
              <a:rPr lang="en-US" sz="1650" dirty="0">
                <a:solidFill>
                  <a:srgbClr val="62736D"/>
                </a:solidFill>
                <a:latin typeface="Noto Sans KR" pitchFamily="34" charset="0"/>
                <a:ea typeface="Noto Sans KR" pitchFamily="34" charset="-122"/>
                <a:cs typeface="Noto Sans KR" pitchFamily="34" charset="-120"/>
              </a:rPr>
              <a:t>자격 삭제 반영 후, 만료 전 미사용 승인도 거절</a:t>
            </a:r>
            <a:endParaRPr lang="en-US" sz="1650" dirty="0"/>
          </a:p>
        </p:txBody>
      </p:sp>
      <p:sp>
        <p:nvSpPr>
          <p:cNvPr id="7" name="Shape 5"/>
          <p:cNvSpPr/>
          <p:nvPr/>
        </p:nvSpPr>
        <p:spPr>
          <a:xfrm>
            <a:off x="533400" y="6334125"/>
            <a:ext cx="11125200" cy="9525"/>
          </a:xfrm>
          <a:prstGeom prst="rect">
            <a:avLst/>
          </a:prstGeom>
          <a:solidFill>
            <a:srgbClr val="DCE5DF"/>
          </a:solidFill>
          <a:ln w="10160">
            <a:solidFill>
              <a:srgbClr val="DCE5DF"/>
            </a:solidFill>
            <a:prstDash val="solid"/>
          </a:ln>
        </p:spPr>
      </p:sp>
      <p:sp>
        <p:nvSpPr>
          <p:cNvPr id="8" name="Text 6"/>
          <p:cNvSpPr/>
          <p:nvPr/>
        </p:nvSpPr>
        <p:spPr>
          <a:xfrm>
            <a:off x="533400" y="6496050"/>
            <a:ext cx="10096500" cy="219075"/>
          </a:xfrm>
          <a:prstGeom prst="rect">
            <a:avLst/>
          </a:prstGeom>
          <a:noFill/>
          <a:ln/>
        </p:spPr>
        <p:txBody>
          <a:bodyPr wrap="square" lIns="0" tIns="0" rIns="0" bIns="0" rtlCol="0" anchor="t"/>
          <a:lstStyle/>
          <a:p>
            <a:pPr indent="0" marL="0">
              <a:buNone/>
            </a:pPr>
            <a:r>
              <a:rPr lang="en-US" sz="900" dirty="0">
                <a:solidFill>
                  <a:srgbClr val="62736D"/>
                </a:solidFill>
                <a:latin typeface="Noto Sans KR" pitchFamily="34" charset="0"/>
                <a:ea typeface="Noto Sans KR" pitchFamily="34" charset="-122"/>
                <a:cs typeface="Noto Sans KR" pitchFamily="34" charset="-120"/>
              </a:rPr>
              <a:t>Stored testnet run 2026-09-21  ·  Hackathon reference implementation</a:t>
            </a:r>
            <a:endParaRPr lang="en-US" sz="900" dirty="0"/>
          </a:p>
        </p:txBody>
      </p:sp>
      <p:sp>
        <p:nvSpPr>
          <p:cNvPr id="9" name="Text 7"/>
          <p:cNvSpPr/>
          <p:nvPr/>
        </p:nvSpPr>
        <p:spPr>
          <a:xfrm>
            <a:off x="10858500" y="6496050"/>
            <a:ext cx="857250" cy="219075"/>
          </a:xfrm>
          <a:prstGeom prst="rect">
            <a:avLst/>
          </a:prstGeom>
          <a:noFill/>
          <a:ln/>
        </p:spPr>
        <p:txBody>
          <a:bodyPr wrap="square" lIns="0" tIns="0" rIns="0" bIns="0" rtlCol="0" anchor="t"/>
          <a:lstStyle/>
          <a:p>
            <a:pPr indent="0" marL="0">
              <a:buNone/>
            </a:pPr>
            <a:r>
              <a:rPr lang="en-US" sz="900" b="1" dirty="0">
                <a:solidFill>
                  <a:srgbClr val="62736D"/>
                </a:solidFill>
                <a:latin typeface="Noto Sans KR" pitchFamily="34" charset="0"/>
                <a:ea typeface="Noto Sans KR" pitchFamily="34" charset="-122"/>
                <a:cs typeface="Noto Sans KR" pitchFamily="34" charset="-120"/>
              </a:rPr>
              <a:t>05 / 07</a:t>
            </a:r>
            <a:endParaRPr lang="en-US" sz="900" dirty="0"/>
          </a:p>
        </p:txBody>
      </p:sp>
      <p:sp>
        <p:nvSpPr>
          <p:cNvPr id="10" name="Text 8"/>
          <p:cNvSpPr/>
          <p:nvPr/>
        </p:nvSpPr>
        <p:spPr>
          <a:xfrm>
            <a:off x="533400" y="2009775"/>
            <a:ext cx="7048500" cy="257175"/>
          </a:xfrm>
          <a:prstGeom prst="rect">
            <a:avLst/>
          </a:prstGeom>
          <a:noFill/>
          <a:ln/>
        </p:spPr>
        <p:txBody>
          <a:bodyPr wrap="square" lIns="0" tIns="0" rIns="0" bIns="0" rtlCol="0" anchor="t"/>
          <a:lstStyle/>
          <a:p>
            <a:pPr indent="0" marL="0">
              <a:buNone/>
            </a:pPr>
            <a:r>
              <a:rPr lang="en-US" sz="1200" dirty="0">
                <a:solidFill>
                  <a:srgbClr val="62736D"/>
                </a:solidFill>
                <a:latin typeface="Noto Sans KR" pitchFamily="34" charset="0"/>
                <a:ea typeface="Noto Sans KR" pitchFamily="34" charset="-122"/>
                <a:cs typeface="Noto Sans KR" pitchFamily="34" charset="-120"/>
              </a:rPr>
              <a:t>2026-09-21 UTC · 우측 실제 UI는 KST 표시</a:t>
            </a:r>
            <a:endParaRPr lang="en-US" sz="1200" dirty="0"/>
          </a:p>
        </p:txBody>
      </p:sp>
      <p:sp>
        <p:nvSpPr>
          <p:cNvPr id="11" name="Shape 9"/>
          <p:cNvSpPr/>
          <p:nvPr/>
        </p:nvSpPr>
        <p:spPr>
          <a:xfrm>
            <a:off x="533400" y="2857500"/>
            <a:ext cx="7048500" cy="9525"/>
          </a:xfrm>
          <a:prstGeom prst="rect">
            <a:avLst/>
          </a:prstGeom>
          <a:solidFill>
            <a:srgbClr val="DCE5DF"/>
          </a:solidFill>
          <a:ln w="10160">
            <a:solidFill>
              <a:srgbClr val="DCE5DF"/>
            </a:solidFill>
            <a:prstDash val="solid"/>
          </a:ln>
        </p:spPr>
      </p:sp>
      <p:sp>
        <p:nvSpPr>
          <p:cNvPr id="12" name="Text 10"/>
          <p:cNvSpPr/>
          <p:nvPr/>
        </p:nvSpPr>
        <p:spPr>
          <a:xfrm>
            <a:off x="695325" y="2438400"/>
            <a:ext cx="1809750" cy="285750"/>
          </a:xfrm>
          <a:prstGeom prst="rect">
            <a:avLst/>
          </a:prstGeom>
          <a:noFill/>
          <a:ln/>
        </p:spPr>
        <p:txBody>
          <a:bodyPr wrap="square" lIns="0" tIns="0" rIns="0" bIns="0" rtlCol="0" anchor="t"/>
          <a:lstStyle/>
          <a:p>
            <a:pPr indent="0" marL="0">
              <a:buNone/>
            </a:pPr>
            <a:r>
              <a:rPr lang="en-US" sz="1425" b="1" dirty="0">
                <a:solidFill>
                  <a:srgbClr val="62736D"/>
                </a:solidFill>
                <a:latin typeface="Noto Sans KR" pitchFamily="34" charset="0"/>
                <a:ea typeface="Noto Sans KR" pitchFamily="34" charset="-122"/>
                <a:cs typeface="Noto Sans KR" pitchFamily="34" charset="-120"/>
              </a:rPr>
              <a:t>09:03:47.202</a:t>
            </a:r>
            <a:endParaRPr lang="en-US" sz="1425" dirty="0"/>
          </a:p>
        </p:txBody>
      </p:sp>
      <p:sp>
        <p:nvSpPr>
          <p:cNvPr id="13" name="Text 11"/>
          <p:cNvSpPr/>
          <p:nvPr/>
        </p:nvSpPr>
        <p:spPr>
          <a:xfrm>
            <a:off x="2667000" y="2428875"/>
            <a:ext cx="4724400" cy="304800"/>
          </a:xfrm>
          <a:prstGeom prst="rect">
            <a:avLst/>
          </a:prstGeom>
          <a:noFill/>
          <a:ln/>
        </p:spPr>
        <p:txBody>
          <a:bodyPr wrap="square" lIns="0" tIns="0" rIns="0" bIns="0" rtlCol="0" anchor="t"/>
          <a:lstStyle/>
          <a:p>
            <a:pPr indent="0" marL="0">
              <a:buNone/>
            </a:pPr>
            <a:r>
              <a:rPr lang="en-US" sz="1650" b="1" dirty="0">
                <a:solidFill>
                  <a:srgbClr val="142E28"/>
                </a:solidFill>
                <a:latin typeface="Noto Sans KR" pitchFamily="34" charset="0"/>
                <a:ea typeface="Noto Sans KR" pitchFamily="34" charset="-122"/>
                <a:cs typeface="Noto Sans KR" pitchFamily="34" charset="-120"/>
              </a:rPr>
              <a:t>미사용 승인 Midnight 확정</a:t>
            </a:r>
            <a:endParaRPr lang="en-US" sz="1650" dirty="0"/>
          </a:p>
        </p:txBody>
      </p:sp>
      <p:sp>
        <p:nvSpPr>
          <p:cNvPr id="14" name="Shape 12"/>
          <p:cNvSpPr/>
          <p:nvPr/>
        </p:nvSpPr>
        <p:spPr>
          <a:xfrm>
            <a:off x="533400" y="3505200"/>
            <a:ext cx="7048500" cy="9525"/>
          </a:xfrm>
          <a:prstGeom prst="rect">
            <a:avLst/>
          </a:prstGeom>
          <a:solidFill>
            <a:srgbClr val="DCE5DF"/>
          </a:solidFill>
          <a:ln w="10160">
            <a:solidFill>
              <a:srgbClr val="DCE5DF"/>
            </a:solidFill>
            <a:prstDash val="solid"/>
          </a:ln>
        </p:spPr>
      </p:sp>
      <p:sp>
        <p:nvSpPr>
          <p:cNvPr id="15" name="Text 13"/>
          <p:cNvSpPr/>
          <p:nvPr/>
        </p:nvSpPr>
        <p:spPr>
          <a:xfrm>
            <a:off x="695325" y="3086100"/>
            <a:ext cx="1809750" cy="285750"/>
          </a:xfrm>
          <a:prstGeom prst="rect">
            <a:avLst/>
          </a:prstGeom>
          <a:noFill/>
          <a:ln/>
        </p:spPr>
        <p:txBody>
          <a:bodyPr wrap="square" lIns="0" tIns="0" rIns="0" bIns="0" rtlCol="0" anchor="t"/>
          <a:lstStyle/>
          <a:p>
            <a:pPr indent="0" marL="0">
              <a:buNone/>
            </a:pPr>
            <a:r>
              <a:rPr lang="en-US" sz="1425" b="1" dirty="0">
                <a:solidFill>
                  <a:srgbClr val="62736D"/>
                </a:solidFill>
                <a:latin typeface="Noto Sans KR" pitchFamily="34" charset="0"/>
                <a:ea typeface="Noto Sans KR" pitchFamily="34" charset="-122"/>
                <a:cs typeface="Noto Sans KR" pitchFamily="34" charset="-120"/>
              </a:rPr>
              <a:t>09:03:59.806</a:t>
            </a:r>
            <a:endParaRPr lang="en-US" sz="1425" dirty="0"/>
          </a:p>
        </p:txBody>
      </p:sp>
      <p:sp>
        <p:nvSpPr>
          <p:cNvPr id="16" name="Text 14"/>
          <p:cNvSpPr/>
          <p:nvPr/>
        </p:nvSpPr>
        <p:spPr>
          <a:xfrm>
            <a:off x="2667000" y="3076575"/>
            <a:ext cx="4724400" cy="304800"/>
          </a:xfrm>
          <a:prstGeom prst="rect">
            <a:avLst/>
          </a:prstGeom>
          <a:noFill/>
          <a:ln/>
        </p:spPr>
        <p:txBody>
          <a:bodyPr wrap="square" lIns="0" tIns="0" rIns="0" bIns="0" rtlCol="0" anchor="t"/>
          <a:lstStyle/>
          <a:p>
            <a:pPr indent="0" marL="0">
              <a:buNone/>
            </a:pPr>
            <a:r>
              <a:rPr lang="en-US" sz="1650" b="1" dirty="0">
                <a:solidFill>
                  <a:srgbClr val="142E28"/>
                </a:solidFill>
                <a:latin typeface="Noto Sans KR" pitchFamily="34" charset="0"/>
                <a:ea typeface="Noto Sans KR" pitchFamily="34" charset="-122"/>
                <a:cs typeface="Noto Sans KR" pitchFamily="34" charset="-120"/>
              </a:rPr>
              <a:t>XRPL Credential 삭제 확정</a:t>
            </a:r>
            <a:endParaRPr lang="en-US" sz="1650" dirty="0"/>
          </a:p>
        </p:txBody>
      </p:sp>
      <p:sp>
        <p:nvSpPr>
          <p:cNvPr id="17" name="Shape 15"/>
          <p:cNvSpPr/>
          <p:nvPr/>
        </p:nvSpPr>
        <p:spPr>
          <a:xfrm>
            <a:off x="533400" y="4152900"/>
            <a:ext cx="7048500" cy="9525"/>
          </a:xfrm>
          <a:prstGeom prst="rect">
            <a:avLst/>
          </a:prstGeom>
          <a:solidFill>
            <a:srgbClr val="DCE5DF"/>
          </a:solidFill>
          <a:ln w="10160">
            <a:solidFill>
              <a:srgbClr val="DCE5DF"/>
            </a:solidFill>
            <a:prstDash val="solid"/>
          </a:ln>
        </p:spPr>
      </p:sp>
      <p:sp>
        <p:nvSpPr>
          <p:cNvPr id="18" name="Text 16"/>
          <p:cNvSpPr/>
          <p:nvPr/>
        </p:nvSpPr>
        <p:spPr>
          <a:xfrm>
            <a:off x="695325" y="3733800"/>
            <a:ext cx="1809750" cy="285750"/>
          </a:xfrm>
          <a:prstGeom prst="rect">
            <a:avLst/>
          </a:prstGeom>
          <a:noFill/>
          <a:ln/>
        </p:spPr>
        <p:txBody>
          <a:bodyPr wrap="square" lIns="0" tIns="0" rIns="0" bIns="0" rtlCol="0" anchor="t"/>
          <a:lstStyle/>
          <a:p>
            <a:pPr indent="0" marL="0">
              <a:buNone/>
            </a:pPr>
            <a:r>
              <a:rPr lang="en-US" sz="1425" b="1" dirty="0">
                <a:solidFill>
                  <a:srgbClr val="62736D"/>
                </a:solidFill>
                <a:latin typeface="Noto Sans KR" pitchFamily="34" charset="0"/>
                <a:ea typeface="Noto Sans KR" pitchFamily="34" charset="-122"/>
                <a:cs typeface="Noto Sans KR" pitchFamily="34" charset="-120"/>
              </a:rPr>
              <a:t>09:04:01.954</a:t>
            </a:r>
            <a:endParaRPr lang="en-US" sz="1425" dirty="0"/>
          </a:p>
        </p:txBody>
      </p:sp>
      <p:sp>
        <p:nvSpPr>
          <p:cNvPr id="19" name="Text 17"/>
          <p:cNvSpPr/>
          <p:nvPr/>
        </p:nvSpPr>
        <p:spPr>
          <a:xfrm>
            <a:off x="2667000" y="3724275"/>
            <a:ext cx="4724400" cy="304800"/>
          </a:xfrm>
          <a:prstGeom prst="rect">
            <a:avLst/>
          </a:prstGeom>
          <a:noFill/>
          <a:ln/>
        </p:spPr>
        <p:txBody>
          <a:bodyPr wrap="square" lIns="0" tIns="0" rIns="0" bIns="0" rtlCol="0" anchor="t"/>
          <a:lstStyle/>
          <a:p>
            <a:pPr indent="0" marL="0">
              <a:buNone/>
            </a:pPr>
            <a:r>
              <a:rPr lang="en-US" sz="1650" b="1" dirty="0">
                <a:solidFill>
                  <a:srgbClr val="142E28"/>
                </a:solidFill>
                <a:latin typeface="Noto Sans KR" pitchFamily="34" charset="0"/>
                <a:ea typeface="Noto Sans KR" pitchFamily="34" charset="-122"/>
                <a:cs typeface="Noto Sans KR" pitchFamily="34" charset="-120"/>
              </a:rPr>
              <a:t>Solana source 상태 무효화</a:t>
            </a:r>
            <a:endParaRPr lang="en-US" sz="1650" dirty="0"/>
          </a:p>
        </p:txBody>
      </p:sp>
      <p:sp>
        <p:nvSpPr>
          <p:cNvPr id="20" name="Shape 18"/>
          <p:cNvSpPr/>
          <p:nvPr/>
        </p:nvSpPr>
        <p:spPr>
          <a:xfrm>
            <a:off x="533400" y="4257675"/>
            <a:ext cx="7048500" cy="542925"/>
          </a:xfrm>
          <a:prstGeom prst="rect">
            <a:avLst/>
          </a:prstGeom>
          <a:solidFill>
            <a:srgbClr val="FAEEE8"/>
          </a:solidFill>
          <a:ln w="10160">
            <a:solidFill>
              <a:srgbClr val="FAEEE8"/>
            </a:solidFill>
            <a:prstDash val="solid"/>
          </a:ln>
        </p:spPr>
      </p:sp>
      <p:sp>
        <p:nvSpPr>
          <p:cNvPr id="21" name="Text 19"/>
          <p:cNvSpPr/>
          <p:nvPr/>
        </p:nvSpPr>
        <p:spPr>
          <a:xfrm>
            <a:off x="695325" y="4381500"/>
            <a:ext cx="1809750" cy="285750"/>
          </a:xfrm>
          <a:prstGeom prst="rect">
            <a:avLst/>
          </a:prstGeom>
          <a:noFill/>
          <a:ln/>
        </p:spPr>
        <p:txBody>
          <a:bodyPr wrap="square" lIns="0" tIns="0" rIns="0" bIns="0" rtlCol="0" anchor="t"/>
          <a:lstStyle/>
          <a:p>
            <a:pPr indent="0" marL="0">
              <a:buNone/>
            </a:pPr>
            <a:r>
              <a:rPr lang="en-US" sz="1425" b="1" dirty="0">
                <a:solidFill>
                  <a:srgbClr val="A1432C"/>
                </a:solidFill>
                <a:latin typeface="Noto Sans KR" pitchFamily="34" charset="0"/>
                <a:ea typeface="Noto Sans KR" pitchFamily="34" charset="-122"/>
                <a:cs typeface="Noto Sans KR" pitchFamily="34" charset="-120"/>
              </a:rPr>
              <a:t>09:04:01.955</a:t>
            </a:r>
            <a:endParaRPr lang="en-US" sz="1425" dirty="0"/>
          </a:p>
        </p:txBody>
      </p:sp>
      <p:sp>
        <p:nvSpPr>
          <p:cNvPr id="22" name="Text 20"/>
          <p:cNvSpPr/>
          <p:nvPr/>
        </p:nvSpPr>
        <p:spPr>
          <a:xfrm>
            <a:off x="2667000" y="4371975"/>
            <a:ext cx="4724400" cy="304800"/>
          </a:xfrm>
          <a:prstGeom prst="rect">
            <a:avLst/>
          </a:prstGeom>
          <a:noFill/>
          <a:ln/>
        </p:spPr>
        <p:txBody>
          <a:bodyPr wrap="square" lIns="0" tIns="0" rIns="0" bIns="0" rtlCol="0" anchor="t"/>
          <a:lstStyle/>
          <a:p>
            <a:pPr indent="0" marL="0">
              <a:buNone/>
            </a:pPr>
            <a:r>
              <a:rPr lang="en-US" sz="1650" b="1" dirty="0">
                <a:solidFill>
                  <a:srgbClr val="A1432C"/>
                </a:solidFill>
                <a:latin typeface="Noto Sans KR" pitchFamily="34" charset="0"/>
                <a:ea typeface="Noto Sans KR" pitchFamily="34" charset="-122"/>
                <a:cs typeface="Noto Sans KR" pitchFamily="34" charset="-120"/>
              </a:rPr>
              <a:t>기존 승인 실행 시도 → REJECTED</a:t>
            </a:r>
            <a:endParaRPr lang="en-US" sz="1650" dirty="0"/>
          </a:p>
        </p:txBody>
      </p:sp>
      <p:sp>
        <p:nvSpPr>
          <p:cNvPr id="23" name="Text 21"/>
          <p:cNvSpPr/>
          <p:nvPr/>
        </p:nvSpPr>
        <p:spPr>
          <a:xfrm>
            <a:off x="533400" y="5153025"/>
            <a:ext cx="7048500" cy="438150"/>
          </a:xfrm>
          <a:prstGeom prst="rect">
            <a:avLst/>
          </a:prstGeom>
          <a:noFill/>
          <a:ln/>
        </p:spPr>
        <p:txBody>
          <a:bodyPr wrap="square" lIns="0" tIns="0" rIns="0" bIns="0" rtlCol="0" anchor="t"/>
          <a:lstStyle/>
          <a:p>
            <a:pPr indent="0" marL="0">
              <a:buNone/>
            </a:pPr>
            <a:r>
              <a:rPr lang="en-US" sz="2550" b="1" dirty="0">
                <a:solidFill>
                  <a:srgbClr val="A1432C"/>
                </a:solidFill>
                <a:latin typeface="Noto Sans KR" pitchFamily="34" charset="0"/>
                <a:ea typeface="Noto Sans KR" pitchFamily="34" charset="-122"/>
                <a:cs typeface="Noto Sans KR" pitchFamily="34" charset="-120"/>
              </a:rPr>
              <a:t>만료까지 7.045초 남음</a:t>
            </a:r>
            <a:endParaRPr lang="en-US" sz="2550" dirty="0"/>
          </a:p>
        </p:txBody>
      </p:sp>
      <p:sp>
        <p:nvSpPr>
          <p:cNvPr id="24" name="Text 22">
            <a:hlinkClick r:id="rId1" tooltip=""/>
          </p:cNvPr>
          <p:cNvSpPr/>
          <p:nvPr/>
        </p:nvSpPr>
        <p:spPr>
          <a:xfrm>
            <a:off x="533400" y="5638800"/>
            <a:ext cx="7048500" cy="400050"/>
          </a:xfrm>
          <a:prstGeom prst="rect">
            <a:avLst/>
          </a:prstGeom>
          <a:noFill/>
          <a:ln/>
        </p:spPr>
        <p:txBody>
          <a:bodyPr wrap="square" lIns="0" tIns="0" rIns="0" bIns="0" rtlCol="0" anchor="t"/>
          <a:lstStyle/>
          <a:p>
            <a:pPr indent="0" marL="0">
              <a:buNone/>
            </a:pPr>
            <a:r>
              <a:rPr lang="en-US" sz="2100" b="1" u="sng" dirty="0">
                <a:solidFill>
                  <a:srgbClr val="A1432C"/>
                </a:solidFill>
                <a:latin typeface="Noto Sans KR" pitchFamily="34" charset="0"/>
                <a:ea typeface="Noto Sans KR" pitchFamily="34" charset="-122"/>
                <a:cs typeface="Noto Sans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0 SOL moved · Source 6003</a:t>
            </a:r>
            <a:endParaRPr lang="en-US" sz="2100" dirty="0"/>
          </a:p>
        </p:txBody>
      </p:sp>
      <p:pic>
        <p:nvPicPr>
          <p:cNvPr id="25" name="Image 0" descr="C:\Users\tnwjd\OneDrive\Desktop\project\ProofPass\artifacts\submission\slides\revocation.png">    </p:cNvPr>
          <p:cNvPicPr>
            <a:picLocks noChangeAspect="1"/>
          </p:cNvPicPr>
          <p:nvPr/>
        </p:nvPicPr>
        <p:blipFill>
          <a:blip r:embed="rId2"/>
          <a:stretch>
            <a:fillRect/>
          </a:stretch>
        </p:blipFill>
        <p:spPr>
          <a:xfrm>
            <a:off x="8139835" y="2114550"/>
            <a:ext cx="2894155" cy="39909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533400" y="333375"/>
            <a:ext cx="266700" cy="38100"/>
          </a:xfrm>
          <a:prstGeom prst="rect">
            <a:avLst/>
          </a:prstGeom>
          <a:solidFill>
            <a:srgbClr val="174B3C"/>
          </a:solidFill>
          <a:ln w="10160">
            <a:solidFill>
              <a:srgbClr val="174B3C"/>
            </a:solidFill>
            <a:prstDash val="solid"/>
          </a:ln>
        </p:spPr>
      </p:sp>
      <p:sp>
        <p:nvSpPr>
          <p:cNvPr id="3" name="Text 1"/>
          <p:cNvSpPr/>
          <p:nvPr/>
        </p:nvSpPr>
        <p:spPr>
          <a:xfrm>
            <a:off x="952500" y="238125"/>
            <a:ext cx="9334500" cy="285750"/>
          </a:xfrm>
          <a:prstGeom prst="rect">
            <a:avLst/>
          </a:prstGeom>
          <a:noFill/>
          <a:ln/>
        </p:spPr>
        <p:txBody>
          <a:bodyPr wrap="square" lIns="0" tIns="0" rIns="0" bIns="0" rtlCol="0" anchor="t"/>
          <a:lstStyle/>
          <a:p>
            <a:pPr indent="0" marL="0">
              <a:buNone/>
            </a:pPr>
            <a:r>
              <a:rPr lang="en-US" sz="975" b="1" dirty="0">
                <a:solidFill>
                  <a:srgbClr val="174B3C"/>
                </a:solidFill>
                <a:latin typeface="Noto Sans KR" pitchFamily="34" charset="0"/>
                <a:ea typeface="Noto Sans KR" pitchFamily="34" charset="-122"/>
                <a:cs typeface="Noto Sans KR" pitchFamily="34" charset="-120"/>
              </a:rPr>
              <a:t>05 / ENFORCEMENT EVIDENCE</a:t>
            </a:r>
            <a:endParaRPr lang="en-US" sz="975" dirty="0"/>
          </a:p>
        </p:txBody>
      </p:sp>
      <p:sp>
        <p:nvSpPr>
          <p:cNvPr id="4" name="Text 2"/>
          <p:cNvSpPr/>
          <p:nvPr/>
        </p:nvSpPr>
        <p:spPr>
          <a:xfrm>
            <a:off x="10477500" y="219075"/>
            <a:ext cx="1238250" cy="333375"/>
          </a:xfrm>
          <a:prstGeom prst="rect">
            <a:avLst/>
          </a:prstGeom>
          <a:noFill/>
          <a:ln/>
        </p:spPr>
        <p:txBody>
          <a:bodyPr wrap="square" lIns="0" tIns="0" rIns="0" bIns="0" rtlCol="0" anchor="t"/>
          <a:lstStyle/>
          <a:p>
            <a:pPr indent="0" marL="0">
              <a:buNone/>
            </a:pPr>
            <a:r>
              <a:rPr lang="en-US" sz="1350" b="1" dirty="0">
                <a:solidFill>
                  <a:srgbClr val="174B3C"/>
                </a:solidFill>
                <a:latin typeface="Noto Sans KR" pitchFamily="34" charset="0"/>
                <a:ea typeface="Noto Sans KR" pitchFamily="34" charset="-122"/>
                <a:cs typeface="Noto Sans KR" pitchFamily="34" charset="-120"/>
              </a:rPr>
              <a:t>ProofPass</a:t>
            </a:r>
            <a:endParaRPr lang="en-US" sz="1350" dirty="0"/>
          </a:p>
        </p:txBody>
      </p:sp>
      <p:sp>
        <p:nvSpPr>
          <p:cNvPr id="5" name="Text 3"/>
          <p:cNvSpPr/>
          <p:nvPr/>
        </p:nvSpPr>
        <p:spPr>
          <a:xfrm>
            <a:off x="533400" y="866775"/>
            <a:ext cx="11144250" cy="714375"/>
          </a:xfrm>
          <a:prstGeom prst="rect">
            <a:avLst/>
          </a:prstGeom>
          <a:noFill/>
          <a:ln/>
        </p:spPr>
        <p:txBody>
          <a:bodyPr wrap="square" lIns="0" tIns="0" rIns="0" bIns="0" rtlCol="0" anchor="t"/>
          <a:lstStyle/>
          <a:p>
            <a:pPr indent="0" marL="0">
              <a:buNone/>
            </a:pPr>
            <a:r>
              <a:rPr lang="en-US" sz="3300" b="1" dirty="0">
                <a:solidFill>
                  <a:srgbClr val="142E28"/>
                </a:solidFill>
                <a:latin typeface="Noto Sans KR" pitchFamily="34" charset="0"/>
                <a:ea typeface="Noto Sans KR" pitchFamily="34" charset="-122"/>
                <a:cs typeface="Noto Sans KR" pitchFamily="34" charset="-120"/>
              </a:rPr>
              <a:t>성공뿐 아니라 실패가 증거입니다.</a:t>
            </a:r>
            <a:endParaRPr lang="en-US" sz="3300" dirty="0"/>
          </a:p>
        </p:txBody>
      </p:sp>
      <p:sp>
        <p:nvSpPr>
          <p:cNvPr id="6" name="Text 4"/>
          <p:cNvSpPr/>
          <p:nvPr/>
        </p:nvSpPr>
        <p:spPr>
          <a:xfrm>
            <a:off x="533400" y="1609725"/>
            <a:ext cx="11144250" cy="476250"/>
          </a:xfrm>
          <a:prstGeom prst="rect">
            <a:avLst/>
          </a:prstGeom>
          <a:noFill/>
          <a:ln/>
        </p:spPr>
        <p:txBody>
          <a:bodyPr wrap="square" lIns="0" tIns="0" rIns="0" bIns="0" rtlCol="0" anchor="t"/>
          <a:lstStyle/>
          <a:p>
            <a:pPr indent="0" marL="0">
              <a:buNone/>
            </a:pPr>
            <a:r>
              <a:rPr lang="en-US" sz="1650" dirty="0">
                <a:solidFill>
                  <a:srgbClr val="62736D"/>
                </a:solidFill>
                <a:latin typeface="Noto Sans KR" pitchFamily="34" charset="0"/>
                <a:ea typeface="Noto Sans KR" pitchFamily="34" charset="-122"/>
                <a:cs typeface="Noto Sans KR" pitchFamily="34" charset="-120"/>
              </a:rPr>
              <a:t>지급·재사용·위임 취소·자격 삭제를 같은 실행에서 검증</a:t>
            </a:r>
            <a:endParaRPr lang="en-US" sz="1650" dirty="0"/>
          </a:p>
        </p:txBody>
      </p:sp>
      <p:sp>
        <p:nvSpPr>
          <p:cNvPr id="7" name="Shape 5"/>
          <p:cNvSpPr/>
          <p:nvPr/>
        </p:nvSpPr>
        <p:spPr>
          <a:xfrm>
            <a:off x="533400" y="6334125"/>
            <a:ext cx="11125200" cy="9525"/>
          </a:xfrm>
          <a:prstGeom prst="rect">
            <a:avLst/>
          </a:prstGeom>
          <a:solidFill>
            <a:srgbClr val="DCE5DF"/>
          </a:solidFill>
          <a:ln w="10160">
            <a:solidFill>
              <a:srgbClr val="DCE5DF"/>
            </a:solidFill>
            <a:prstDash val="solid"/>
          </a:ln>
        </p:spPr>
      </p:sp>
      <p:sp>
        <p:nvSpPr>
          <p:cNvPr id="8" name="Text 6"/>
          <p:cNvSpPr/>
          <p:nvPr/>
        </p:nvSpPr>
        <p:spPr>
          <a:xfrm>
            <a:off x="533400" y="6496050"/>
            <a:ext cx="10096500" cy="219075"/>
          </a:xfrm>
          <a:prstGeom prst="rect">
            <a:avLst/>
          </a:prstGeom>
          <a:noFill/>
          <a:ln/>
        </p:spPr>
        <p:txBody>
          <a:bodyPr wrap="square" lIns="0" tIns="0" rIns="0" bIns="0" rtlCol="0" anchor="t"/>
          <a:lstStyle/>
          <a:p>
            <a:pPr indent="0" marL="0">
              <a:buNone/>
            </a:pPr>
            <a:r>
              <a:rPr lang="en-US" sz="900" dirty="0">
                <a:solidFill>
                  <a:srgbClr val="62736D"/>
                </a:solidFill>
                <a:latin typeface="Noto Sans KR" pitchFamily="34" charset="0"/>
                <a:ea typeface="Noto Sans KR" pitchFamily="34" charset="-122"/>
                <a:cs typeface="Noto Sans KR" pitchFamily="34" charset="-120"/>
              </a:rPr>
              <a:t>Stored testnet run 2026-09-21  ·  Hackathon reference implementation</a:t>
            </a:r>
            <a:endParaRPr lang="en-US" sz="900" dirty="0"/>
          </a:p>
        </p:txBody>
      </p:sp>
      <p:sp>
        <p:nvSpPr>
          <p:cNvPr id="9" name="Text 7"/>
          <p:cNvSpPr/>
          <p:nvPr/>
        </p:nvSpPr>
        <p:spPr>
          <a:xfrm>
            <a:off x="10858500" y="6496050"/>
            <a:ext cx="857250" cy="219075"/>
          </a:xfrm>
          <a:prstGeom prst="rect">
            <a:avLst/>
          </a:prstGeom>
          <a:noFill/>
          <a:ln/>
        </p:spPr>
        <p:txBody>
          <a:bodyPr wrap="square" lIns="0" tIns="0" rIns="0" bIns="0" rtlCol="0" anchor="t"/>
          <a:lstStyle/>
          <a:p>
            <a:pPr indent="0" marL="0">
              <a:buNone/>
            </a:pPr>
            <a:r>
              <a:rPr lang="en-US" sz="900" b="1" dirty="0">
                <a:solidFill>
                  <a:srgbClr val="62736D"/>
                </a:solidFill>
                <a:latin typeface="Noto Sans KR" pitchFamily="34" charset="0"/>
                <a:ea typeface="Noto Sans KR" pitchFamily="34" charset="-122"/>
                <a:cs typeface="Noto Sans KR" pitchFamily="34" charset="-120"/>
              </a:rPr>
              <a:t>06 / 07</a:t>
            </a:r>
            <a:endParaRPr lang="en-US" sz="900" dirty="0"/>
          </a:p>
        </p:txBody>
      </p:sp>
      <p:sp>
        <p:nvSpPr>
          <p:cNvPr id="10" name="Shape 8"/>
          <p:cNvSpPr/>
          <p:nvPr/>
        </p:nvSpPr>
        <p:spPr>
          <a:xfrm>
            <a:off x="533400" y="2352675"/>
            <a:ext cx="11125200" cy="609600"/>
          </a:xfrm>
          <a:prstGeom prst="rect">
            <a:avLst/>
          </a:prstGeom>
          <a:solidFill>
            <a:srgbClr val="E8F2EC"/>
          </a:solidFill>
          <a:ln w="10160">
            <a:solidFill>
              <a:srgbClr val="DCE5DF"/>
            </a:solidFill>
            <a:prstDash val="solid"/>
          </a:ln>
        </p:spPr>
      </p:sp>
      <p:sp>
        <p:nvSpPr>
          <p:cNvPr id="11" name="Text 9"/>
          <p:cNvSpPr/>
          <p:nvPr/>
        </p:nvSpPr>
        <p:spPr>
          <a:xfrm>
            <a:off x="723900" y="2524125"/>
            <a:ext cx="5191125" cy="295275"/>
          </a:xfrm>
          <a:prstGeom prst="rect">
            <a:avLst/>
          </a:prstGeom>
          <a:noFill/>
          <a:ln/>
        </p:spPr>
        <p:txBody>
          <a:bodyPr wrap="square" lIns="0" tIns="0" rIns="0" bIns="0" rtlCol="0" anchor="t"/>
          <a:lstStyle/>
          <a:p>
            <a:pPr indent="0" marL="0">
              <a:buNone/>
            </a:pPr>
            <a:r>
              <a:rPr lang="en-US" sz="1725" b="1" dirty="0">
                <a:solidFill>
                  <a:srgbClr val="142E28"/>
                </a:solidFill>
                <a:latin typeface="Noto Sans KR" pitchFamily="34" charset="0"/>
                <a:ea typeface="Noto Sans KR" pitchFamily="34" charset="-122"/>
                <a:cs typeface="Noto Sans KR" pitchFamily="34" charset="-120"/>
              </a:rPr>
              <a:t>0.05 SOL valid request</a:t>
            </a:r>
            <a:endParaRPr lang="en-US" sz="1725" dirty="0"/>
          </a:p>
        </p:txBody>
      </p:sp>
      <p:sp>
        <p:nvSpPr>
          <p:cNvPr id="12" name="Text 10"/>
          <p:cNvSpPr/>
          <p:nvPr/>
        </p:nvSpPr>
        <p:spPr>
          <a:xfrm>
            <a:off x="6134100" y="2524125"/>
            <a:ext cx="1809750" cy="295275"/>
          </a:xfrm>
          <a:prstGeom prst="rect">
            <a:avLst/>
          </a:prstGeom>
          <a:noFill/>
          <a:ln/>
        </p:spPr>
        <p:txBody>
          <a:bodyPr wrap="square" lIns="0" tIns="0" rIns="0" bIns="0" rtlCol="0" anchor="t"/>
          <a:lstStyle/>
          <a:p>
            <a:pPr indent="0" marL="0">
              <a:buNone/>
            </a:pPr>
            <a:r>
              <a:rPr lang="en-US" sz="1725" b="1" dirty="0">
                <a:solidFill>
                  <a:srgbClr val="174B3C"/>
                </a:solidFill>
                <a:latin typeface="Noto Sans KR" pitchFamily="34" charset="0"/>
                <a:ea typeface="Noto Sans KR" pitchFamily="34" charset="-122"/>
                <a:cs typeface="Noto Sans KR" pitchFamily="34" charset="-120"/>
              </a:rPr>
              <a:t>PAID</a:t>
            </a:r>
            <a:endParaRPr lang="en-US" sz="1725" dirty="0"/>
          </a:p>
        </p:txBody>
      </p:sp>
      <p:sp>
        <p:nvSpPr>
          <p:cNvPr id="13" name="Text 11"/>
          <p:cNvSpPr/>
          <p:nvPr/>
        </p:nvSpPr>
        <p:spPr>
          <a:xfrm>
            <a:off x="8286750" y="2533650"/>
            <a:ext cx="3143250" cy="295275"/>
          </a:xfrm>
          <a:prstGeom prst="rect">
            <a:avLst/>
          </a:prstGeom>
          <a:noFill/>
          <a:ln/>
        </p:spPr>
        <p:txBody>
          <a:bodyPr wrap="square" lIns="0" tIns="0" rIns="0" bIns="0" rtlCol="0" anchor="t"/>
          <a:lstStyle/>
          <a:p>
            <a:pPr indent="0" marL="0">
              <a:buNone/>
            </a:pPr>
            <a:r>
              <a:rPr lang="en-US" sz="1500" dirty="0">
                <a:solidFill>
                  <a:srgbClr val="62736D"/>
                </a:solidFill>
                <a:latin typeface="Noto Sans KR" pitchFamily="34" charset="0"/>
                <a:ea typeface="Noto Sans KR" pitchFamily="34" charset="-122"/>
                <a:cs typeface="Noto Sans KR" pitchFamily="34" charset="-120"/>
              </a:rPr>
              <a:t>50,000,000 lamports</a:t>
            </a:r>
            <a:endParaRPr lang="en-US" sz="1500" dirty="0"/>
          </a:p>
        </p:txBody>
      </p:sp>
      <p:sp>
        <p:nvSpPr>
          <p:cNvPr id="14" name="Shape 12"/>
          <p:cNvSpPr/>
          <p:nvPr/>
        </p:nvSpPr>
        <p:spPr>
          <a:xfrm>
            <a:off x="533400" y="3076575"/>
            <a:ext cx="11125200" cy="609600"/>
          </a:xfrm>
          <a:prstGeom prst="rect">
            <a:avLst/>
          </a:prstGeom>
          <a:solidFill>
            <a:srgbClr val="FFFFFF"/>
          </a:solidFill>
          <a:ln w="10160">
            <a:solidFill>
              <a:srgbClr val="DCE5DF"/>
            </a:solidFill>
            <a:prstDash val="solid"/>
          </a:ln>
        </p:spPr>
      </p:sp>
      <p:sp>
        <p:nvSpPr>
          <p:cNvPr id="15" name="Text 13"/>
          <p:cNvSpPr/>
          <p:nvPr/>
        </p:nvSpPr>
        <p:spPr>
          <a:xfrm>
            <a:off x="723900" y="3248025"/>
            <a:ext cx="5191125" cy="295275"/>
          </a:xfrm>
          <a:prstGeom prst="rect">
            <a:avLst/>
          </a:prstGeom>
          <a:noFill/>
          <a:ln/>
        </p:spPr>
        <p:txBody>
          <a:bodyPr wrap="square" lIns="0" tIns="0" rIns="0" bIns="0" rtlCol="0" anchor="t"/>
          <a:lstStyle/>
          <a:p>
            <a:pPr indent="0" marL="0">
              <a:buNone/>
            </a:pPr>
            <a:r>
              <a:rPr lang="en-US" sz="1725" b="1" dirty="0">
                <a:solidFill>
                  <a:srgbClr val="142E28"/>
                </a:solidFill>
                <a:latin typeface="Noto Sans KR" pitchFamily="34" charset="0"/>
                <a:ea typeface="Noto Sans KR" pitchFamily="34" charset="-122"/>
                <a:cs typeface="Noto Sans KR" pitchFamily="34" charset="-120"/>
              </a:rPr>
              <a:t>Same authorization reused</a:t>
            </a:r>
            <a:endParaRPr lang="en-US" sz="1725" dirty="0"/>
          </a:p>
        </p:txBody>
      </p:sp>
      <p:sp>
        <p:nvSpPr>
          <p:cNvPr id="16" name="Text 14"/>
          <p:cNvSpPr/>
          <p:nvPr/>
        </p:nvSpPr>
        <p:spPr>
          <a:xfrm>
            <a:off x="6134100" y="3248025"/>
            <a:ext cx="1809750" cy="295275"/>
          </a:xfrm>
          <a:prstGeom prst="rect">
            <a:avLst/>
          </a:prstGeom>
          <a:noFill/>
          <a:ln/>
        </p:spPr>
        <p:txBody>
          <a:bodyPr wrap="square" lIns="0" tIns="0" rIns="0" bIns="0" rtlCol="0" anchor="t"/>
          <a:lstStyle/>
          <a:p>
            <a:pPr indent="0" marL="0">
              <a:buNone/>
            </a:pPr>
            <a:r>
              <a:rPr lang="en-US" sz="1725" b="1" dirty="0">
                <a:solidFill>
                  <a:srgbClr val="A1432C"/>
                </a:solidFill>
                <a:latin typeface="Noto Sans KR" pitchFamily="34" charset="0"/>
                <a:ea typeface="Noto Sans KR" pitchFamily="34" charset="-122"/>
                <a:cs typeface="Noto Sans KR" pitchFamily="34" charset="-120"/>
              </a:rPr>
              <a:t>REJECTED</a:t>
            </a:r>
            <a:endParaRPr lang="en-US" sz="1725" dirty="0"/>
          </a:p>
        </p:txBody>
      </p:sp>
      <p:sp>
        <p:nvSpPr>
          <p:cNvPr id="17" name="Text 15"/>
          <p:cNvSpPr/>
          <p:nvPr/>
        </p:nvSpPr>
        <p:spPr>
          <a:xfrm>
            <a:off x="8286750" y="3257550"/>
            <a:ext cx="3143250" cy="295275"/>
          </a:xfrm>
          <a:prstGeom prst="rect">
            <a:avLst/>
          </a:prstGeom>
          <a:noFill/>
          <a:ln/>
        </p:spPr>
        <p:txBody>
          <a:bodyPr wrap="square" lIns="0" tIns="0" rIns="0" bIns="0" rtlCol="0" anchor="t"/>
          <a:lstStyle/>
          <a:p>
            <a:pPr indent="0" marL="0">
              <a:buNone/>
            </a:pPr>
            <a:r>
              <a:rPr lang="en-US" sz="1500" dirty="0">
                <a:solidFill>
                  <a:srgbClr val="62736D"/>
                </a:solidFill>
                <a:latin typeface="Noto Sans KR" pitchFamily="34" charset="0"/>
                <a:ea typeface="Noto Sans KR" pitchFamily="34" charset="-122"/>
                <a:cs typeface="Noto Sans KR" pitchFamily="34" charset="-120"/>
              </a:rPr>
              <a:t>Consumed 6007 · 지급 0</a:t>
            </a:r>
            <a:endParaRPr lang="en-US" sz="1500" dirty="0"/>
          </a:p>
        </p:txBody>
      </p:sp>
      <p:sp>
        <p:nvSpPr>
          <p:cNvPr id="18" name="Shape 16"/>
          <p:cNvSpPr/>
          <p:nvPr/>
        </p:nvSpPr>
        <p:spPr>
          <a:xfrm>
            <a:off x="533400" y="3800475"/>
            <a:ext cx="11125200" cy="609600"/>
          </a:xfrm>
          <a:prstGeom prst="rect">
            <a:avLst/>
          </a:prstGeom>
          <a:solidFill>
            <a:srgbClr val="FFFFFF"/>
          </a:solidFill>
          <a:ln w="10160">
            <a:solidFill>
              <a:srgbClr val="DCE5DF"/>
            </a:solidFill>
            <a:prstDash val="solid"/>
          </a:ln>
        </p:spPr>
      </p:sp>
      <p:sp>
        <p:nvSpPr>
          <p:cNvPr id="19" name="Text 17"/>
          <p:cNvSpPr/>
          <p:nvPr/>
        </p:nvSpPr>
        <p:spPr>
          <a:xfrm>
            <a:off x="723900" y="3971925"/>
            <a:ext cx="5191125" cy="295275"/>
          </a:xfrm>
          <a:prstGeom prst="rect">
            <a:avLst/>
          </a:prstGeom>
          <a:noFill/>
          <a:ln/>
        </p:spPr>
        <p:txBody>
          <a:bodyPr wrap="square" lIns="0" tIns="0" rIns="0" bIns="0" rtlCol="0" anchor="t"/>
          <a:lstStyle/>
          <a:p>
            <a:pPr indent="0" marL="0">
              <a:buNone/>
            </a:pPr>
            <a:r>
              <a:rPr lang="en-US" sz="1725" b="1" dirty="0">
                <a:solidFill>
                  <a:srgbClr val="142E28"/>
                </a:solidFill>
                <a:latin typeface="Noto Sans KR" pitchFamily="34" charset="0"/>
                <a:ea typeface="Noto Sans KR" pitchFamily="34" charset="-122"/>
                <a:cs typeface="Noto Sans KR" pitchFamily="34" charset="-120"/>
              </a:rPr>
              <a:t>Mandate revoked → old approval</a:t>
            </a:r>
            <a:endParaRPr lang="en-US" sz="1725" dirty="0"/>
          </a:p>
        </p:txBody>
      </p:sp>
      <p:sp>
        <p:nvSpPr>
          <p:cNvPr id="20" name="Text 18"/>
          <p:cNvSpPr/>
          <p:nvPr/>
        </p:nvSpPr>
        <p:spPr>
          <a:xfrm>
            <a:off x="6134100" y="3971925"/>
            <a:ext cx="1809750" cy="295275"/>
          </a:xfrm>
          <a:prstGeom prst="rect">
            <a:avLst/>
          </a:prstGeom>
          <a:noFill/>
          <a:ln/>
        </p:spPr>
        <p:txBody>
          <a:bodyPr wrap="square" lIns="0" tIns="0" rIns="0" bIns="0" rtlCol="0" anchor="t"/>
          <a:lstStyle/>
          <a:p>
            <a:pPr indent="0" marL="0">
              <a:buNone/>
            </a:pPr>
            <a:r>
              <a:rPr lang="en-US" sz="1725" b="1" dirty="0">
                <a:solidFill>
                  <a:srgbClr val="A1432C"/>
                </a:solidFill>
                <a:latin typeface="Noto Sans KR" pitchFamily="34" charset="0"/>
                <a:ea typeface="Noto Sans KR" pitchFamily="34" charset="-122"/>
                <a:cs typeface="Noto Sans KR" pitchFamily="34" charset="-120"/>
              </a:rPr>
              <a:t>REJECTED</a:t>
            </a:r>
            <a:endParaRPr lang="en-US" sz="1725" dirty="0"/>
          </a:p>
        </p:txBody>
      </p:sp>
      <p:sp>
        <p:nvSpPr>
          <p:cNvPr id="21" name="Text 19"/>
          <p:cNvSpPr/>
          <p:nvPr/>
        </p:nvSpPr>
        <p:spPr>
          <a:xfrm>
            <a:off x="8286750" y="3981450"/>
            <a:ext cx="3143250" cy="295275"/>
          </a:xfrm>
          <a:prstGeom prst="rect">
            <a:avLst/>
          </a:prstGeom>
          <a:noFill/>
          <a:ln/>
        </p:spPr>
        <p:txBody>
          <a:bodyPr wrap="square" lIns="0" tIns="0" rIns="0" bIns="0" rtlCol="0" anchor="t"/>
          <a:lstStyle/>
          <a:p>
            <a:pPr indent="0" marL="0">
              <a:buNone/>
            </a:pPr>
            <a:r>
              <a:rPr lang="en-US" sz="1500" dirty="0">
                <a:solidFill>
                  <a:srgbClr val="62736D"/>
                </a:solidFill>
                <a:latin typeface="Noto Sans KR" pitchFamily="34" charset="0"/>
                <a:ea typeface="Noto Sans KR" pitchFamily="34" charset="-122"/>
                <a:cs typeface="Noto Sans KR" pitchFamily="34" charset="-120"/>
              </a:rPr>
              <a:t>Mandate 6001 · 지급 0</a:t>
            </a:r>
            <a:endParaRPr lang="en-US" sz="1500" dirty="0"/>
          </a:p>
        </p:txBody>
      </p:sp>
      <p:sp>
        <p:nvSpPr>
          <p:cNvPr id="22" name="Shape 20"/>
          <p:cNvSpPr/>
          <p:nvPr/>
        </p:nvSpPr>
        <p:spPr>
          <a:xfrm>
            <a:off x="533400" y="4524375"/>
            <a:ext cx="11125200" cy="609600"/>
          </a:xfrm>
          <a:prstGeom prst="rect">
            <a:avLst/>
          </a:prstGeom>
          <a:solidFill>
            <a:srgbClr val="FFFFFF"/>
          </a:solidFill>
          <a:ln w="10160">
            <a:solidFill>
              <a:srgbClr val="DCE5DF"/>
            </a:solidFill>
            <a:prstDash val="solid"/>
          </a:ln>
        </p:spPr>
      </p:sp>
      <p:sp>
        <p:nvSpPr>
          <p:cNvPr id="23" name="Text 21"/>
          <p:cNvSpPr/>
          <p:nvPr/>
        </p:nvSpPr>
        <p:spPr>
          <a:xfrm>
            <a:off x="723900" y="4695825"/>
            <a:ext cx="5191125" cy="295275"/>
          </a:xfrm>
          <a:prstGeom prst="rect">
            <a:avLst/>
          </a:prstGeom>
          <a:noFill/>
          <a:ln/>
        </p:spPr>
        <p:txBody>
          <a:bodyPr wrap="square" lIns="0" tIns="0" rIns="0" bIns="0" rtlCol="0" anchor="t"/>
          <a:lstStyle/>
          <a:p>
            <a:pPr indent="0" marL="0">
              <a:buNone/>
            </a:pPr>
            <a:r>
              <a:rPr lang="en-US" sz="1725" b="1" dirty="0">
                <a:solidFill>
                  <a:srgbClr val="142E28"/>
                </a:solidFill>
                <a:latin typeface="Noto Sans KR" pitchFamily="34" charset="0"/>
                <a:ea typeface="Noto Sans KR" pitchFamily="34" charset="-122"/>
                <a:cs typeface="Noto Sans KR" pitchFamily="34" charset="-120"/>
              </a:rPr>
              <a:t>Credential deleted → old approval</a:t>
            </a:r>
            <a:endParaRPr lang="en-US" sz="1725" dirty="0"/>
          </a:p>
        </p:txBody>
      </p:sp>
      <p:sp>
        <p:nvSpPr>
          <p:cNvPr id="24" name="Text 22"/>
          <p:cNvSpPr/>
          <p:nvPr/>
        </p:nvSpPr>
        <p:spPr>
          <a:xfrm>
            <a:off x="6134100" y="4695825"/>
            <a:ext cx="1809750" cy="295275"/>
          </a:xfrm>
          <a:prstGeom prst="rect">
            <a:avLst/>
          </a:prstGeom>
          <a:noFill/>
          <a:ln/>
        </p:spPr>
        <p:txBody>
          <a:bodyPr wrap="square" lIns="0" tIns="0" rIns="0" bIns="0" rtlCol="0" anchor="t"/>
          <a:lstStyle/>
          <a:p>
            <a:pPr indent="0" marL="0">
              <a:buNone/>
            </a:pPr>
            <a:r>
              <a:rPr lang="en-US" sz="1725" b="1" dirty="0">
                <a:solidFill>
                  <a:srgbClr val="A1432C"/>
                </a:solidFill>
                <a:latin typeface="Noto Sans KR" pitchFamily="34" charset="0"/>
                <a:ea typeface="Noto Sans KR" pitchFamily="34" charset="-122"/>
                <a:cs typeface="Noto Sans KR" pitchFamily="34" charset="-120"/>
              </a:rPr>
              <a:t>REJECTED</a:t>
            </a:r>
            <a:endParaRPr lang="en-US" sz="1725" dirty="0"/>
          </a:p>
        </p:txBody>
      </p:sp>
      <p:sp>
        <p:nvSpPr>
          <p:cNvPr id="25" name="Text 23"/>
          <p:cNvSpPr/>
          <p:nvPr/>
        </p:nvSpPr>
        <p:spPr>
          <a:xfrm>
            <a:off x="8286750" y="4705350"/>
            <a:ext cx="3143250" cy="295275"/>
          </a:xfrm>
          <a:prstGeom prst="rect">
            <a:avLst/>
          </a:prstGeom>
          <a:noFill/>
          <a:ln/>
        </p:spPr>
        <p:txBody>
          <a:bodyPr wrap="square" lIns="0" tIns="0" rIns="0" bIns="0" rtlCol="0" anchor="t"/>
          <a:lstStyle/>
          <a:p>
            <a:pPr indent="0" marL="0">
              <a:buNone/>
            </a:pPr>
            <a:r>
              <a:rPr lang="en-US" sz="1500" dirty="0">
                <a:solidFill>
                  <a:srgbClr val="62736D"/>
                </a:solidFill>
                <a:latin typeface="Noto Sans KR" pitchFamily="34" charset="0"/>
                <a:ea typeface="Noto Sans KR" pitchFamily="34" charset="-122"/>
                <a:cs typeface="Noto Sans KR" pitchFamily="34" charset="-120"/>
              </a:rPr>
              <a:t>Source 6003 · 지급 0</a:t>
            </a:r>
            <a:endParaRPr lang="en-US" sz="1500" dirty="0"/>
          </a:p>
        </p:txBody>
      </p:sp>
      <p:sp>
        <p:nvSpPr>
          <p:cNvPr id="26" name="Text 24"/>
          <p:cNvSpPr/>
          <p:nvPr/>
        </p:nvSpPr>
        <p:spPr>
          <a:xfrm>
            <a:off x="533400" y="5467350"/>
            <a:ext cx="11125200" cy="304800"/>
          </a:xfrm>
          <a:prstGeom prst="rect">
            <a:avLst/>
          </a:prstGeom>
          <a:noFill/>
          <a:ln/>
        </p:spPr>
        <p:txBody>
          <a:bodyPr wrap="square" lIns="0" tIns="0" rIns="0" bIns="0" rtlCol="0" anchor="t"/>
          <a:lstStyle/>
          <a:p>
            <a:pPr indent="0" marL="0">
              <a:buNone/>
            </a:pPr>
            <a:r>
              <a:rPr lang="en-US" sz="1575" dirty="0">
                <a:solidFill>
                  <a:srgbClr val="62736D"/>
                </a:solidFill>
                <a:latin typeface="Noto Sans KR" pitchFamily="34" charset="0"/>
                <a:ea typeface="Noto Sans KR" pitchFamily="34" charset="-122"/>
                <a:cs typeface="Noto Sans KR" pitchFamily="34" charset="-120"/>
              </a:rPr>
              <a:t>추가 검증: 0.15 SOL → 승인 생성 거절 / 세 실패 시도 모두 승인 만료 전</a:t>
            </a:r>
            <a:endParaRPr lang="en-US" sz="1575" dirty="0"/>
          </a:p>
        </p:txBody>
      </p:sp>
      <p:sp>
        <p:nvSpPr>
          <p:cNvPr id="27" name="Text 25">
            <a:hlinkClick r:id="rId1" tooltip=""/>
          </p:cNvPr>
          <p:cNvSpPr/>
          <p:nvPr/>
        </p:nvSpPr>
        <p:spPr>
          <a:xfrm>
            <a:off x="533400" y="5905500"/>
            <a:ext cx="11125200" cy="285750"/>
          </a:xfrm>
          <a:prstGeom prst="rect">
            <a:avLst/>
          </a:prstGeom>
          <a:noFill/>
          <a:ln/>
        </p:spPr>
        <p:txBody>
          <a:bodyPr wrap="square" lIns="0" tIns="0" rIns="0" bIns="0" rtlCol="0" anchor="t"/>
          <a:lstStyle/>
          <a:p>
            <a:pPr indent="0" marL="0">
              <a:buNone/>
            </a:pPr>
            <a:r>
              <a:rPr lang="en-US" sz="1425" b="1" u="sng" dirty="0">
                <a:solidFill>
                  <a:srgbClr val="174B3C"/>
                </a:solidFill>
                <a:latin typeface="Noto Sans KR" pitchFamily="34" charset="0"/>
                <a:ea typeface="Noto Sans KR" pitchFamily="34" charset="-122"/>
                <a:cs typeface="Noto Sans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원본 영수증 · 잔액 · 오류 코드 · 실행 시간 확인 ↗</a:t>
            </a:r>
            <a:endParaRPr lang="en-US" sz="14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533400" y="333375"/>
            <a:ext cx="266700" cy="38100"/>
          </a:xfrm>
          <a:prstGeom prst="rect">
            <a:avLst/>
          </a:prstGeom>
          <a:solidFill>
            <a:srgbClr val="174B3C"/>
          </a:solidFill>
          <a:ln w="10160">
            <a:solidFill>
              <a:srgbClr val="174B3C"/>
            </a:solidFill>
            <a:prstDash val="solid"/>
          </a:ln>
        </p:spPr>
      </p:sp>
      <p:sp>
        <p:nvSpPr>
          <p:cNvPr id="3" name="Text 1"/>
          <p:cNvSpPr/>
          <p:nvPr/>
        </p:nvSpPr>
        <p:spPr>
          <a:xfrm>
            <a:off x="952500" y="238125"/>
            <a:ext cx="9334500" cy="285750"/>
          </a:xfrm>
          <a:prstGeom prst="rect">
            <a:avLst/>
          </a:prstGeom>
          <a:noFill/>
          <a:ln/>
        </p:spPr>
        <p:txBody>
          <a:bodyPr wrap="square" lIns="0" tIns="0" rIns="0" bIns="0" rtlCol="0" anchor="t"/>
          <a:lstStyle/>
          <a:p>
            <a:pPr indent="0" marL="0">
              <a:buNone/>
            </a:pPr>
            <a:r>
              <a:rPr lang="en-US" sz="975" b="1" dirty="0">
                <a:solidFill>
                  <a:srgbClr val="174B3C"/>
                </a:solidFill>
                <a:latin typeface="Noto Sans KR" pitchFamily="34" charset="0"/>
                <a:ea typeface="Noto Sans KR" pitchFamily="34" charset="-122"/>
                <a:cs typeface="Noto Sans KR" pitchFamily="34" charset="-120"/>
              </a:rPr>
              <a:t>06 / TRUST BOUNDARIES &amp; NEXT EXPERIMENT</a:t>
            </a:r>
            <a:endParaRPr lang="en-US" sz="975" dirty="0"/>
          </a:p>
        </p:txBody>
      </p:sp>
      <p:sp>
        <p:nvSpPr>
          <p:cNvPr id="4" name="Text 2"/>
          <p:cNvSpPr/>
          <p:nvPr/>
        </p:nvSpPr>
        <p:spPr>
          <a:xfrm>
            <a:off x="10477500" y="219075"/>
            <a:ext cx="1238250" cy="333375"/>
          </a:xfrm>
          <a:prstGeom prst="rect">
            <a:avLst/>
          </a:prstGeom>
          <a:noFill/>
          <a:ln/>
        </p:spPr>
        <p:txBody>
          <a:bodyPr wrap="square" lIns="0" tIns="0" rIns="0" bIns="0" rtlCol="0" anchor="t"/>
          <a:lstStyle/>
          <a:p>
            <a:pPr indent="0" marL="0">
              <a:buNone/>
            </a:pPr>
            <a:r>
              <a:rPr lang="en-US" sz="1350" b="1" dirty="0">
                <a:solidFill>
                  <a:srgbClr val="174B3C"/>
                </a:solidFill>
                <a:latin typeface="Noto Sans KR" pitchFamily="34" charset="0"/>
                <a:ea typeface="Noto Sans KR" pitchFamily="34" charset="-122"/>
                <a:cs typeface="Noto Sans KR" pitchFamily="34" charset="-120"/>
              </a:rPr>
              <a:t>ProofPass</a:t>
            </a:r>
            <a:endParaRPr lang="en-US" sz="1350" dirty="0"/>
          </a:p>
        </p:txBody>
      </p:sp>
      <p:sp>
        <p:nvSpPr>
          <p:cNvPr id="5" name="Text 3"/>
          <p:cNvSpPr/>
          <p:nvPr/>
        </p:nvSpPr>
        <p:spPr>
          <a:xfrm>
            <a:off x="533400" y="866775"/>
            <a:ext cx="11144250" cy="714375"/>
          </a:xfrm>
          <a:prstGeom prst="rect">
            <a:avLst/>
          </a:prstGeom>
          <a:noFill/>
          <a:ln/>
        </p:spPr>
        <p:txBody>
          <a:bodyPr wrap="square" lIns="0" tIns="0" rIns="0" bIns="0" rtlCol="0" anchor="t"/>
          <a:lstStyle/>
          <a:p>
            <a:pPr indent="0" marL="0">
              <a:buNone/>
            </a:pPr>
            <a:r>
              <a:rPr lang="en-US" sz="3300" b="1" dirty="0">
                <a:solidFill>
                  <a:srgbClr val="142E28"/>
                </a:solidFill>
                <a:latin typeface="Noto Sans KR" pitchFamily="34" charset="0"/>
                <a:ea typeface="Noto Sans KR" pitchFamily="34" charset="-122"/>
                <a:cs typeface="Noto Sans KR" pitchFamily="34" charset="-120"/>
              </a:rPr>
              <a:t>어디까지 보장하는가</a:t>
            </a:r>
            <a:endParaRPr lang="en-US" sz="3300" dirty="0"/>
          </a:p>
        </p:txBody>
      </p:sp>
      <p:sp>
        <p:nvSpPr>
          <p:cNvPr id="6" name="Text 4"/>
          <p:cNvSpPr/>
          <p:nvPr/>
        </p:nvSpPr>
        <p:spPr>
          <a:xfrm>
            <a:off x="533400" y="1609725"/>
            <a:ext cx="11144250" cy="476250"/>
          </a:xfrm>
          <a:prstGeom prst="rect">
            <a:avLst/>
          </a:prstGeom>
          <a:noFill/>
          <a:ln/>
        </p:spPr>
        <p:txBody>
          <a:bodyPr wrap="square" lIns="0" tIns="0" rIns="0" bIns="0" rtlCol="0" anchor="t"/>
          <a:lstStyle/>
          <a:p>
            <a:pPr indent="0" marL="0">
              <a:buNone/>
            </a:pPr>
            <a:r>
              <a:rPr lang="en-US" sz="1650" dirty="0">
                <a:solidFill>
                  <a:srgbClr val="62736D"/>
                </a:solidFill>
                <a:latin typeface="Noto Sans KR" pitchFamily="34" charset="0"/>
                <a:ea typeface="Noto Sans KR" pitchFamily="34" charset="-122"/>
                <a:cs typeface="Noto Sans KR" pitchFamily="34" charset="-120"/>
              </a:rPr>
              <a:t>현재 구현과 다음 실험을 분리합니다.</a:t>
            </a:r>
            <a:endParaRPr lang="en-US" sz="1650" dirty="0"/>
          </a:p>
        </p:txBody>
      </p:sp>
      <p:sp>
        <p:nvSpPr>
          <p:cNvPr id="7" name="Shape 5"/>
          <p:cNvSpPr/>
          <p:nvPr/>
        </p:nvSpPr>
        <p:spPr>
          <a:xfrm>
            <a:off x="533400" y="6334125"/>
            <a:ext cx="11125200" cy="9525"/>
          </a:xfrm>
          <a:prstGeom prst="rect">
            <a:avLst/>
          </a:prstGeom>
          <a:solidFill>
            <a:srgbClr val="DCE5DF"/>
          </a:solidFill>
          <a:ln w="10160">
            <a:solidFill>
              <a:srgbClr val="DCE5DF"/>
            </a:solidFill>
            <a:prstDash val="solid"/>
          </a:ln>
        </p:spPr>
      </p:sp>
      <p:sp>
        <p:nvSpPr>
          <p:cNvPr id="8" name="Text 6"/>
          <p:cNvSpPr/>
          <p:nvPr/>
        </p:nvSpPr>
        <p:spPr>
          <a:xfrm>
            <a:off x="533400" y="6496050"/>
            <a:ext cx="10096500" cy="219075"/>
          </a:xfrm>
          <a:prstGeom prst="rect">
            <a:avLst/>
          </a:prstGeom>
          <a:noFill/>
          <a:ln/>
        </p:spPr>
        <p:txBody>
          <a:bodyPr wrap="square" lIns="0" tIns="0" rIns="0" bIns="0" rtlCol="0" anchor="t"/>
          <a:lstStyle/>
          <a:p>
            <a:pPr indent="0" marL="0">
              <a:buNone/>
            </a:pPr>
            <a:r>
              <a:rPr lang="en-US" sz="900" dirty="0">
                <a:solidFill>
                  <a:srgbClr val="62736D"/>
                </a:solidFill>
                <a:latin typeface="Noto Sans KR" pitchFamily="34" charset="0"/>
                <a:ea typeface="Noto Sans KR" pitchFamily="34" charset="-122"/>
                <a:cs typeface="Noto Sans KR" pitchFamily="34" charset="-120"/>
              </a:rPr>
              <a:t>Stored testnet run 2026-09-21  ·  Hackathon reference implementation</a:t>
            </a:r>
            <a:endParaRPr lang="en-US" sz="900" dirty="0"/>
          </a:p>
        </p:txBody>
      </p:sp>
      <p:sp>
        <p:nvSpPr>
          <p:cNvPr id="9" name="Text 7"/>
          <p:cNvSpPr/>
          <p:nvPr/>
        </p:nvSpPr>
        <p:spPr>
          <a:xfrm>
            <a:off x="10858500" y="6496050"/>
            <a:ext cx="857250" cy="219075"/>
          </a:xfrm>
          <a:prstGeom prst="rect">
            <a:avLst/>
          </a:prstGeom>
          <a:noFill/>
          <a:ln/>
        </p:spPr>
        <p:txBody>
          <a:bodyPr wrap="square" lIns="0" tIns="0" rIns="0" bIns="0" rtlCol="0" anchor="t"/>
          <a:lstStyle/>
          <a:p>
            <a:pPr indent="0" marL="0">
              <a:buNone/>
            </a:pPr>
            <a:r>
              <a:rPr lang="en-US" sz="900" b="1" dirty="0">
                <a:solidFill>
                  <a:srgbClr val="62736D"/>
                </a:solidFill>
                <a:latin typeface="Noto Sans KR" pitchFamily="34" charset="0"/>
                <a:ea typeface="Noto Sans KR" pitchFamily="34" charset="-122"/>
                <a:cs typeface="Noto Sans KR" pitchFamily="34" charset="-120"/>
              </a:rPr>
              <a:t>07 / 07</a:t>
            </a:r>
            <a:endParaRPr lang="en-US" sz="900" dirty="0"/>
          </a:p>
        </p:txBody>
      </p:sp>
      <p:sp>
        <p:nvSpPr>
          <p:cNvPr id="10" name="Shape 8"/>
          <p:cNvSpPr/>
          <p:nvPr/>
        </p:nvSpPr>
        <p:spPr>
          <a:xfrm>
            <a:off x="533400" y="2333625"/>
            <a:ext cx="5391150" cy="3305175"/>
          </a:xfrm>
          <a:prstGeom prst="rect">
            <a:avLst/>
          </a:prstGeom>
          <a:solidFill>
            <a:srgbClr val="FFFFFF"/>
          </a:solidFill>
          <a:ln w="10160">
            <a:solidFill>
              <a:srgbClr val="DCE5DF"/>
            </a:solidFill>
            <a:prstDash val="solid"/>
          </a:ln>
        </p:spPr>
      </p:sp>
      <p:sp>
        <p:nvSpPr>
          <p:cNvPr id="11" name="Shape 9"/>
          <p:cNvSpPr/>
          <p:nvPr/>
        </p:nvSpPr>
        <p:spPr>
          <a:xfrm>
            <a:off x="6172200" y="2333625"/>
            <a:ext cx="5486400" cy="3305175"/>
          </a:xfrm>
          <a:prstGeom prst="rect">
            <a:avLst/>
          </a:prstGeom>
          <a:solidFill>
            <a:srgbClr val="174B3C"/>
          </a:solidFill>
          <a:ln w="10160">
            <a:solidFill>
              <a:srgbClr val="174B3C"/>
            </a:solidFill>
            <a:prstDash val="solid"/>
          </a:ln>
        </p:spPr>
      </p:sp>
      <p:sp>
        <p:nvSpPr>
          <p:cNvPr id="12" name="Text 10"/>
          <p:cNvSpPr/>
          <p:nvPr/>
        </p:nvSpPr>
        <p:spPr>
          <a:xfrm>
            <a:off x="762000" y="2552700"/>
            <a:ext cx="4933950" cy="333375"/>
          </a:xfrm>
          <a:prstGeom prst="rect">
            <a:avLst/>
          </a:prstGeom>
          <a:noFill/>
          <a:ln/>
        </p:spPr>
        <p:txBody>
          <a:bodyPr wrap="square" lIns="0" tIns="0" rIns="0" bIns="0" rtlCol="0" anchor="t"/>
          <a:lstStyle/>
          <a:p>
            <a:pPr indent="0" marL="0">
              <a:buNone/>
            </a:pPr>
            <a:r>
              <a:rPr lang="en-US" sz="1350" b="1" dirty="0">
                <a:solidFill>
                  <a:srgbClr val="174B3C"/>
                </a:solidFill>
                <a:latin typeface="Noto Sans KR" pitchFamily="34" charset="0"/>
                <a:ea typeface="Noto Sans KR" pitchFamily="34" charset="-122"/>
                <a:cs typeface="Noto Sans KR" pitchFamily="34" charset="-120"/>
              </a:rPr>
              <a:t>CURRENT BOUNDARIES</a:t>
            </a:r>
            <a:endParaRPr lang="en-US" sz="1350" dirty="0"/>
          </a:p>
        </p:txBody>
      </p:sp>
      <p:sp>
        <p:nvSpPr>
          <p:cNvPr id="13" name="Text 11"/>
          <p:cNvSpPr/>
          <p:nvPr/>
        </p:nvSpPr>
        <p:spPr>
          <a:xfrm>
            <a:off x="762000" y="3133725"/>
            <a:ext cx="4933950" cy="2314575"/>
          </a:xfrm>
          <a:prstGeom prst="rect">
            <a:avLst/>
          </a:prstGeom>
          <a:noFill/>
          <a:ln/>
        </p:spPr>
        <p:txBody>
          <a:bodyPr wrap="square" lIns="0" tIns="0" rIns="0" bIns="0" rtlCol="0" anchor="t"/>
          <a:lstStyle/>
          <a:p>
            <a:pPr indent="0" marL="0">
              <a:buNone/>
            </a:pPr>
            <a:r>
              <a:rPr lang="en-US" sz="1725" dirty="0">
                <a:solidFill>
                  <a:srgbClr val="142E28"/>
                </a:solidFill>
                <a:latin typeface="Noto Sans KR" pitchFamily="34" charset="0"/>
                <a:ea typeface="Noto Sans KR" pitchFamily="34" charset="-122"/>
                <a:cs typeface="Noto Sans KR" pitchFamily="34" charset="-120"/>
              </a:rPr>
              <a:t>Trusted relay / observer / adapters / time</a:t>
            </a:r>
            <a:endParaRPr lang="en-US" sz="1725" dirty="0"/>
          </a:p>
          <a:p>
            <a:pPr indent="0" marL="0">
              <a:buNone/>
            </a:pPr>
            <a:r>
              <a:rPr lang="en-US" sz="1725" dirty="0">
                <a:solidFill>
                  <a:srgbClr val="142E28"/>
                </a:solidFill>
                <a:latin typeface="Noto Sans KR" pitchFamily="34" charset="0"/>
                <a:ea typeface="Noto Sans KR" pitchFamily="34" charset="-122"/>
                <a:cs typeface="Noto Sans KR" pitchFamily="34" charset="-120"/>
              </a:rPr>
              <a:t>취소 반영 지연 · 최대 60초 lease</a:t>
            </a:r>
            <a:endParaRPr lang="en-US" sz="1725" dirty="0"/>
          </a:p>
          <a:p>
            <a:pPr indent="0" marL="0">
              <a:buNone/>
            </a:pPr>
            <a:r>
              <a:rPr lang="en-US" sz="1725" dirty="0">
                <a:solidFill>
                  <a:srgbClr val="142E28"/>
                </a:solidFill>
                <a:latin typeface="Noto Sans KR" pitchFamily="34" charset="0"/>
                <a:ea typeface="Noto Sans KR" pitchFamily="34" charset="-122"/>
                <a:cs typeface="Noto Sans KR" pitchFamily="34" charset="-120"/>
              </a:rPr>
              <a:t>해당 vault/program 지급 경로만 통제</a:t>
            </a:r>
            <a:endParaRPr lang="en-US" sz="1725" dirty="0"/>
          </a:p>
          <a:p>
            <a:pPr indent="0" marL="0">
              <a:buNone/>
            </a:pPr>
            <a:r>
              <a:rPr lang="en-US" sz="1725" dirty="0">
                <a:solidFill>
                  <a:srgbClr val="142E28"/>
                </a:solidFill>
                <a:latin typeface="Noto Sans KR" pitchFamily="34" charset="0"/>
                <a:ea typeface="Noto Sans KR" pitchFamily="34" charset="-122"/>
                <a:cs typeface="Noto Sans KR" pitchFamily="34" charset="-120"/>
              </a:rPr>
              <a:t>금액·주소·시각 공개 · 익명 시스템 아님</a:t>
            </a:r>
            <a:endParaRPr lang="en-US" sz="1725" dirty="0"/>
          </a:p>
          <a:p>
            <a:pPr indent="0" marL="0">
              <a:buNone/>
            </a:pPr>
            <a:r>
              <a:rPr lang="en-US" sz="1725" dirty="0">
                <a:solidFill>
                  <a:srgbClr val="142E28"/>
                </a:solidFill>
                <a:latin typeface="Noto Sans KR" pitchFamily="34" charset="0"/>
                <a:ea typeface="Noto Sans KR" pitchFamily="34" charset="-122"/>
                <a:cs typeface="Noto Sans KR" pitchFamily="34" charset="-120"/>
              </a:rPr>
              <a:t>현재 Agent = authorized signer</a:t>
            </a:r>
            <a:endParaRPr lang="en-US" sz="1725" dirty="0"/>
          </a:p>
        </p:txBody>
      </p:sp>
      <p:sp>
        <p:nvSpPr>
          <p:cNvPr id="14" name="Text 12"/>
          <p:cNvSpPr/>
          <p:nvPr/>
        </p:nvSpPr>
        <p:spPr>
          <a:xfrm>
            <a:off x="6400800" y="2552700"/>
            <a:ext cx="5029200" cy="333375"/>
          </a:xfrm>
          <a:prstGeom prst="rect">
            <a:avLst/>
          </a:prstGeom>
          <a:noFill/>
          <a:ln/>
        </p:spPr>
        <p:txBody>
          <a:bodyPr wrap="square" lIns="0" tIns="0" rIns="0" bIns="0" rtlCol="0" anchor="t"/>
          <a:lstStyle/>
          <a:p>
            <a:pPr indent="0" marL="0">
              <a:buNone/>
            </a:pPr>
            <a:r>
              <a:rPr lang="en-US" sz="1200" b="1" dirty="0">
                <a:solidFill>
                  <a:srgbClr val="B9D5C8"/>
                </a:solidFill>
                <a:latin typeface="Noto Sans KR" pitchFamily="34" charset="0"/>
                <a:ea typeface="Noto Sans KR" pitchFamily="34" charset="-122"/>
                <a:cs typeface="Noto Sans KR" pitchFamily="34" charset="-120"/>
              </a:rPr>
              <a:t>ROADMAP / NOT IMPLEMENTED</a:t>
            </a:r>
            <a:endParaRPr lang="en-US" sz="1200" dirty="0"/>
          </a:p>
        </p:txBody>
      </p:sp>
      <p:sp>
        <p:nvSpPr>
          <p:cNvPr id="15" name="Text 13"/>
          <p:cNvSpPr/>
          <p:nvPr/>
        </p:nvSpPr>
        <p:spPr>
          <a:xfrm>
            <a:off x="6400800" y="3181350"/>
            <a:ext cx="5029200" cy="876300"/>
          </a:xfrm>
          <a:prstGeom prst="rect">
            <a:avLst/>
          </a:prstGeom>
          <a:noFill/>
          <a:ln/>
        </p:spPr>
        <p:txBody>
          <a:bodyPr wrap="square" lIns="0" tIns="0" rIns="0" bIns="0" rtlCol="0" anchor="t"/>
          <a:lstStyle/>
          <a:p>
            <a:pPr indent="0" marL="0">
              <a:buNone/>
            </a:pPr>
            <a:r>
              <a:rPr lang="en-US" sz="1950" b="1" dirty="0">
                <a:solidFill>
                  <a:srgbClr val="FFFFFF"/>
                </a:solidFill>
                <a:latin typeface="Noto Sans KR" pitchFamily="34" charset="0"/>
                <a:ea typeface="Noto Sans KR" pitchFamily="34" charset="-122"/>
                <a:cs typeface="Noto Sans KR" pitchFamily="34" charset="-120"/>
              </a:rPr>
              <a:t>Organization → Officer</a:t>
            </a:r>
            <a:endParaRPr lang="en-US" sz="1950" dirty="0"/>
          </a:p>
          <a:p>
            <a:pPr indent="0" marL="0">
              <a:buNone/>
            </a:pPr>
            <a:r>
              <a:rPr lang="en-US" sz="1950" b="1" dirty="0">
                <a:solidFill>
                  <a:srgbClr val="FFFFFF"/>
                </a:solidFill>
                <a:latin typeface="Noto Sans KR" pitchFamily="34" charset="0"/>
                <a:ea typeface="Noto Sans KR" pitchFamily="34" charset="-122"/>
                <a:cs typeface="Noto Sans KR" pitchFamily="34" charset="-120"/>
              </a:rPr>
              <a:t>→ AI Agent → External service</a:t>
            </a:r>
            <a:endParaRPr lang="en-US" sz="1950" dirty="0"/>
          </a:p>
        </p:txBody>
      </p:sp>
      <p:sp>
        <p:nvSpPr>
          <p:cNvPr id="16" name="Text 14"/>
          <p:cNvSpPr/>
          <p:nvPr/>
        </p:nvSpPr>
        <p:spPr>
          <a:xfrm>
            <a:off x="6400800" y="4295775"/>
            <a:ext cx="5029200" cy="1095375"/>
          </a:xfrm>
          <a:prstGeom prst="rect">
            <a:avLst/>
          </a:prstGeom>
          <a:noFill/>
          <a:ln/>
        </p:spPr>
        <p:txBody>
          <a:bodyPr wrap="square" lIns="0" tIns="0" rIns="0" bIns="0" rtlCol="0" anchor="t"/>
          <a:lstStyle/>
          <a:p>
            <a:pPr indent="0" marL="0">
              <a:buNone/>
            </a:pPr>
            <a:r>
              <a:rPr lang="en-US" sz="1800" dirty="0">
                <a:solidFill>
                  <a:srgbClr val="D3E4DB"/>
                </a:solidFill>
                <a:latin typeface="Noto Sans KR" pitchFamily="34" charset="0"/>
                <a:ea typeface="Noto Sans KR" pitchFamily="34" charset="-122"/>
                <a:cs typeface="Noto Sans KR" pitchFamily="34" charset="-120"/>
              </a:rPr>
              <a:t>담당자의 권한이 회수되면,</a:t>
            </a:r>
            <a:endParaRPr lang="en-US" sz="1800" dirty="0"/>
          </a:p>
          <a:p>
            <a:pPr indent="0" marL="0">
              <a:buNone/>
            </a:pPr>
            <a:r>
              <a:rPr lang="en-US" sz="1800" dirty="0">
                <a:solidFill>
                  <a:srgbClr val="D3E4DB"/>
                </a:solidFill>
                <a:latin typeface="Noto Sans KR" pitchFamily="34" charset="0"/>
                <a:ea typeface="Noto Sans KR" pitchFamily="34" charset="-122"/>
                <a:cs typeface="Noto Sans KR" pitchFamily="34" charset="-120"/>
              </a:rPr>
              <a:t>그 담당자가 위임한 Agent도</a:t>
            </a:r>
            <a:endParaRPr lang="en-US" sz="1800" dirty="0"/>
          </a:p>
          <a:p>
            <a:pPr indent="0" marL="0">
              <a:buNone/>
            </a:pPr>
            <a:r>
              <a:rPr lang="en-US" sz="1800" dirty="0">
                <a:solidFill>
                  <a:srgbClr val="D3E4DB"/>
                </a:solidFill>
                <a:latin typeface="Noto Sans KR" pitchFamily="34" charset="0"/>
                <a:ea typeface="Noto Sans KR" pitchFamily="34" charset="-122"/>
                <a:cs typeface="Noto Sans KR" pitchFamily="34" charset="-120"/>
              </a:rPr>
              <a:t>회사 자금 사용을 멈춰야 할까요?</a:t>
            </a:r>
            <a:endParaRPr lang="en-US" sz="1800" dirty="0"/>
          </a:p>
        </p:txBody>
      </p:sp>
      <p:sp>
        <p:nvSpPr>
          <p:cNvPr id="17" name="Text 15"/>
          <p:cNvSpPr/>
          <p:nvPr/>
        </p:nvSpPr>
        <p:spPr>
          <a:xfrm>
            <a:off x="533400" y="5867400"/>
            <a:ext cx="11125200" cy="323850"/>
          </a:xfrm>
          <a:prstGeom prst="rect">
            <a:avLst/>
          </a:prstGeom>
          <a:noFill/>
          <a:ln/>
        </p:spPr>
        <p:txBody>
          <a:bodyPr wrap="square" lIns="0" tIns="0" rIns="0" bIns="0" rtlCol="0" anchor="t"/>
          <a:lstStyle/>
          <a:p>
            <a:pPr indent="0" marL="0">
              <a:buNone/>
            </a:pPr>
            <a:r>
              <a:rPr lang="en-US" sz="1800" b="1" dirty="0">
                <a:solidFill>
                  <a:srgbClr val="174B3C"/>
                </a:solidFill>
                <a:latin typeface="Noto Sans KR" pitchFamily="34" charset="0"/>
                <a:ea typeface="Noto Sans KR" pitchFamily="34" charset="-122"/>
                <a:cs typeface="Noto Sans KR" pitchFamily="34" charset="-120"/>
              </a:rPr>
              <a:t>The boundary of a company is extending to AI Agents.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ProofPass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ProofPass — Project Deck</dc:title>
  <dc:subject>Private authorization with execution-time revocation</dc:subject>
  <dc:creator>ProofPass</dc:creator>
  <cp:lastModifiedBy>ProofPass</cp:lastModifiedBy>
  <cp:revision>1</cp:revision>
  <dcterms:created xsi:type="dcterms:W3CDTF">2026-09-27T05:49:56Z</dcterms:created>
  <dcterms:modified xsi:type="dcterms:W3CDTF">2026-09-27T05:49:56Z</dcterms:modified>
</cp:coreProperties>
</file>